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8"/>
  </p:notesMasterIdLst>
  <p:sldIdLst>
    <p:sldId id="256" r:id="rId2"/>
    <p:sldId id="257" r:id="rId3"/>
    <p:sldId id="261" r:id="rId4"/>
    <p:sldId id="259" r:id="rId5"/>
    <p:sldId id="258" r:id="rId6"/>
    <p:sldId id="260" r:id="rId7"/>
  </p:sldIdLst>
  <p:sldSz cx="12192000" cy="12188825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00000"/>
    <a:srgbClr val="5B9BD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3141"/>
    <p:restoredTop sz="94524"/>
  </p:normalViewPr>
  <p:slideViewPr>
    <p:cSldViewPr snapToGrid="0">
      <p:cViewPr>
        <p:scale>
          <a:sx n="87" d="100"/>
          <a:sy n="87" d="100"/>
        </p:scale>
        <p:origin x="-48" y="-10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380F61D-5888-4F45-B58C-AFF11477949F}" type="datetimeFigureOut">
              <a:rPr lang="en-US" smtClean="0"/>
              <a:t>6/18/25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885950" y="1143000"/>
            <a:ext cx="30861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9DBF009-32B7-474B-98BB-6B0A10F59D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91602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DBF009-32B7-474B-98BB-6B0A10F59D6A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57669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2178B6-3140-261B-DA0D-82CB0FE404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983DA7F-04D5-3537-BB3D-CDE2DB5DD5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139E9B2-C66E-9896-6467-FF0E0467C3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C1D8CF-37CC-98C8-C85B-6F5371520C5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DBF009-32B7-474B-98BB-6B0A10F59D6A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938052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260655-8E7B-07B7-24A8-C7B47A5638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C56E194-1F14-60BA-E8BE-F4B8000A3FE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6B4ABDF-4F4C-C839-C65D-260996B3DB4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6DFA85-4DCF-9D96-F812-E45955A0A84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DBF009-32B7-474B-98BB-6B0A10F59D6A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547107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1994792"/>
            <a:ext cx="10363200" cy="4243517"/>
          </a:xfrm>
        </p:spPr>
        <p:txBody>
          <a:bodyPr anchor="b"/>
          <a:lstStyle>
            <a:lvl1pPr algn="ctr">
              <a:defRPr sz="8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6401956"/>
            <a:ext cx="9144000" cy="2942810"/>
          </a:xfrm>
        </p:spPr>
        <p:txBody>
          <a:bodyPr/>
          <a:lstStyle>
            <a:lvl1pPr marL="0" indent="0" algn="ctr">
              <a:buNone/>
              <a:defRPr sz="3200"/>
            </a:lvl1pPr>
            <a:lvl2pPr marL="609585" indent="0" algn="ctr">
              <a:buNone/>
              <a:defRPr sz="2667"/>
            </a:lvl2pPr>
            <a:lvl3pPr marL="1219170" indent="0" algn="ctr">
              <a:buNone/>
              <a:defRPr sz="2400"/>
            </a:lvl3pPr>
            <a:lvl4pPr marL="1828754" indent="0" algn="ctr">
              <a:buNone/>
              <a:defRPr sz="2133"/>
            </a:lvl4pPr>
            <a:lvl5pPr marL="2438339" indent="0" algn="ctr">
              <a:buNone/>
              <a:defRPr sz="2133"/>
            </a:lvl5pPr>
            <a:lvl6pPr marL="3047924" indent="0" algn="ctr">
              <a:buNone/>
              <a:defRPr sz="2133"/>
            </a:lvl6pPr>
            <a:lvl7pPr marL="3657509" indent="0" algn="ctr">
              <a:buNone/>
              <a:defRPr sz="2133"/>
            </a:lvl7pPr>
            <a:lvl8pPr marL="4267093" indent="0" algn="ctr">
              <a:buNone/>
              <a:defRPr sz="2133"/>
            </a:lvl8pPr>
            <a:lvl9pPr marL="4876678" indent="0" algn="ctr">
              <a:buNone/>
              <a:defRPr sz="2133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A208B9-A1FD-A545-84FD-D19EFD3032C3}" type="datetimeFigureOut">
              <a:rPr lang="en-US" smtClean="0"/>
              <a:t>6/18/25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50C9DA-7183-6D46-9F61-0CDF041940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61357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A208B9-A1FD-A545-84FD-D19EFD3032C3}" type="datetimeFigureOut">
              <a:rPr lang="en-US" smtClean="0"/>
              <a:t>6/18/25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50C9DA-7183-6D46-9F61-0CDF041940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17385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1" y="3038745"/>
            <a:ext cx="10515600" cy="5070212"/>
          </a:xfrm>
        </p:spPr>
        <p:txBody>
          <a:bodyPr anchor="b"/>
          <a:lstStyle>
            <a:lvl1pPr>
              <a:defRPr sz="8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1" y="8156923"/>
            <a:ext cx="10515600" cy="2666305"/>
          </a:xfrm>
        </p:spPr>
        <p:txBody>
          <a:bodyPr/>
          <a:lstStyle>
            <a:lvl1pPr marL="0" indent="0">
              <a:buNone/>
              <a:defRPr sz="3200">
                <a:solidFill>
                  <a:schemeClr val="tx1">
                    <a:tint val="82000"/>
                  </a:schemeClr>
                </a:solidFill>
              </a:defRPr>
            </a:lvl1pPr>
            <a:lvl2pPr marL="609585" indent="0">
              <a:buNone/>
              <a:defRPr sz="2667">
                <a:solidFill>
                  <a:schemeClr val="tx1">
                    <a:tint val="82000"/>
                  </a:schemeClr>
                </a:solidFill>
              </a:defRPr>
            </a:lvl2pPr>
            <a:lvl3pPr marL="121917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3pPr>
            <a:lvl4pPr marL="1828754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4pPr>
            <a:lvl5pPr marL="2438339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5pPr>
            <a:lvl6pPr marL="3047924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6pPr>
            <a:lvl7pPr marL="3657509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7pPr>
            <a:lvl8pPr marL="4267093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8pPr>
            <a:lvl9pPr marL="4876678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A208B9-A1FD-A545-84FD-D19EFD3032C3}" type="datetimeFigureOut">
              <a:rPr lang="en-US" smtClean="0"/>
              <a:t>6/18/25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50C9DA-7183-6D46-9F61-0CDF041940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94458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3244711"/>
            <a:ext cx="5181600" cy="773369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3244711"/>
            <a:ext cx="5181600" cy="773369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A208B9-A1FD-A545-84FD-D19EFD3032C3}" type="datetimeFigureOut">
              <a:rPr lang="en-US" smtClean="0"/>
              <a:t>6/18/25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50C9DA-7183-6D46-9F61-0CDF041940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44169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648945"/>
            <a:ext cx="10515600" cy="235594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9" y="2987956"/>
            <a:ext cx="5157787" cy="1464351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85" indent="0">
              <a:buNone/>
              <a:defRPr sz="2667" b="1"/>
            </a:lvl2pPr>
            <a:lvl3pPr marL="1219170" indent="0">
              <a:buNone/>
              <a:defRPr sz="2400" b="1"/>
            </a:lvl3pPr>
            <a:lvl4pPr marL="1828754" indent="0">
              <a:buNone/>
              <a:defRPr sz="2133" b="1"/>
            </a:lvl4pPr>
            <a:lvl5pPr marL="2438339" indent="0">
              <a:buNone/>
              <a:defRPr sz="2133" b="1"/>
            </a:lvl5pPr>
            <a:lvl6pPr marL="3047924" indent="0">
              <a:buNone/>
              <a:defRPr sz="2133" b="1"/>
            </a:lvl6pPr>
            <a:lvl7pPr marL="3657509" indent="0">
              <a:buNone/>
              <a:defRPr sz="2133" b="1"/>
            </a:lvl7pPr>
            <a:lvl8pPr marL="4267093" indent="0">
              <a:buNone/>
              <a:defRPr sz="2133" b="1"/>
            </a:lvl8pPr>
            <a:lvl9pPr marL="4876678" indent="0">
              <a:buNone/>
              <a:defRPr sz="213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9" y="4452307"/>
            <a:ext cx="5157787" cy="65486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1" y="2987956"/>
            <a:ext cx="5183188" cy="1464351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85" indent="0">
              <a:buNone/>
              <a:defRPr sz="2667" b="1"/>
            </a:lvl2pPr>
            <a:lvl3pPr marL="1219170" indent="0">
              <a:buNone/>
              <a:defRPr sz="2400" b="1"/>
            </a:lvl3pPr>
            <a:lvl4pPr marL="1828754" indent="0">
              <a:buNone/>
              <a:defRPr sz="2133" b="1"/>
            </a:lvl4pPr>
            <a:lvl5pPr marL="2438339" indent="0">
              <a:buNone/>
              <a:defRPr sz="2133" b="1"/>
            </a:lvl5pPr>
            <a:lvl6pPr marL="3047924" indent="0">
              <a:buNone/>
              <a:defRPr sz="2133" b="1"/>
            </a:lvl6pPr>
            <a:lvl7pPr marL="3657509" indent="0">
              <a:buNone/>
              <a:defRPr sz="2133" b="1"/>
            </a:lvl7pPr>
            <a:lvl8pPr marL="4267093" indent="0">
              <a:buNone/>
              <a:defRPr sz="2133" b="1"/>
            </a:lvl8pPr>
            <a:lvl9pPr marL="4876678" indent="0">
              <a:buNone/>
              <a:defRPr sz="213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1" y="4452307"/>
            <a:ext cx="5183188" cy="65486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A208B9-A1FD-A545-84FD-D19EFD3032C3}" type="datetimeFigureOut">
              <a:rPr lang="en-US" smtClean="0"/>
              <a:t>6/18/25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50C9DA-7183-6D46-9F61-0CDF041940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24068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A208B9-A1FD-A545-84FD-D19EFD3032C3}" type="datetimeFigureOut">
              <a:rPr lang="en-US" smtClean="0"/>
              <a:t>6/18/25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50C9DA-7183-6D46-9F61-0CDF041940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8905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A208B9-A1FD-A545-84FD-D19EFD3032C3}" type="datetimeFigureOut">
              <a:rPr lang="en-US" smtClean="0"/>
              <a:t>6/18/25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50C9DA-7183-6D46-9F61-0CDF041940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0103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812588"/>
            <a:ext cx="3932237" cy="2844059"/>
          </a:xfrm>
        </p:spPr>
        <p:txBody>
          <a:bodyPr anchor="b"/>
          <a:lstStyle>
            <a:lvl1pPr>
              <a:defRPr sz="426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1754968"/>
            <a:ext cx="6172200" cy="8661966"/>
          </a:xfrm>
        </p:spPr>
        <p:txBody>
          <a:bodyPr/>
          <a:lstStyle>
            <a:lvl1pPr>
              <a:defRPr sz="4267"/>
            </a:lvl1pPr>
            <a:lvl2pPr>
              <a:defRPr sz="3733"/>
            </a:lvl2pPr>
            <a:lvl3pPr>
              <a:defRPr sz="3200"/>
            </a:lvl3pPr>
            <a:lvl4pPr>
              <a:defRPr sz="2667"/>
            </a:lvl4pPr>
            <a:lvl5pPr>
              <a:defRPr sz="2667"/>
            </a:lvl5pPr>
            <a:lvl6pPr>
              <a:defRPr sz="2667"/>
            </a:lvl6pPr>
            <a:lvl7pPr>
              <a:defRPr sz="2667"/>
            </a:lvl7pPr>
            <a:lvl8pPr>
              <a:defRPr sz="2667"/>
            </a:lvl8pPr>
            <a:lvl9pPr>
              <a:defRPr sz="266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3656647"/>
            <a:ext cx="3932237" cy="6774392"/>
          </a:xfrm>
        </p:spPr>
        <p:txBody>
          <a:bodyPr/>
          <a:lstStyle>
            <a:lvl1pPr marL="0" indent="0">
              <a:buNone/>
              <a:defRPr sz="2133"/>
            </a:lvl1pPr>
            <a:lvl2pPr marL="609585" indent="0">
              <a:buNone/>
              <a:defRPr sz="1867"/>
            </a:lvl2pPr>
            <a:lvl3pPr marL="1219170" indent="0">
              <a:buNone/>
              <a:defRPr sz="1600"/>
            </a:lvl3pPr>
            <a:lvl4pPr marL="1828754" indent="0">
              <a:buNone/>
              <a:defRPr sz="1333"/>
            </a:lvl4pPr>
            <a:lvl5pPr marL="2438339" indent="0">
              <a:buNone/>
              <a:defRPr sz="1333"/>
            </a:lvl5pPr>
            <a:lvl6pPr marL="3047924" indent="0">
              <a:buNone/>
              <a:defRPr sz="1333"/>
            </a:lvl6pPr>
            <a:lvl7pPr marL="3657509" indent="0">
              <a:buNone/>
              <a:defRPr sz="1333"/>
            </a:lvl7pPr>
            <a:lvl8pPr marL="4267093" indent="0">
              <a:buNone/>
              <a:defRPr sz="1333"/>
            </a:lvl8pPr>
            <a:lvl9pPr marL="4876678" indent="0">
              <a:buNone/>
              <a:defRPr sz="133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A208B9-A1FD-A545-84FD-D19EFD3032C3}" type="datetimeFigureOut">
              <a:rPr lang="en-US" smtClean="0"/>
              <a:t>6/18/25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50C9DA-7183-6D46-9F61-0CDF041940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72254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812588"/>
            <a:ext cx="3932237" cy="2844059"/>
          </a:xfrm>
        </p:spPr>
        <p:txBody>
          <a:bodyPr anchor="b"/>
          <a:lstStyle>
            <a:lvl1pPr>
              <a:defRPr sz="426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1754968"/>
            <a:ext cx="6172200" cy="8661966"/>
          </a:xfrm>
        </p:spPr>
        <p:txBody>
          <a:bodyPr anchor="t"/>
          <a:lstStyle>
            <a:lvl1pPr marL="0" indent="0">
              <a:buNone/>
              <a:defRPr sz="4267"/>
            </a:lvl1pPr>
            <a:lvl2pPr marL="609585" indent="0">
              <a:buNone/>
              <a:defRPr sz="3733"/>
            </a:lvl2pPr>
            <a:lvl3pPr marL="1219170" indent="0">
              <a:buNone/>
              <a:defRPr sz="3200"/>
            </a:lvl3pPr>
            <a:lvl4pPr marL="1828754" indent="0">
              <a:buNone/>
              <a:defRPr sz="2667"/>
            </a:lvl4pPr>
            <a:lvl5pPr marL="2438339" indent="0">
              <a:buNone/>
              <a:defRPr sz="2667"/>
            </a:lvl5pPr>
            <a:lvl6pPr marL="3047924" indent="0">
              <a:buNone/>
              <a:defRPr sz="2667"/>
            </a:lvl6pPr>
            <a:lvl7pPr marL="3657509" indent="0">
              <a:buNone/>
              <a:defRPr sz="2667"/>
            </a:lvl7pPr>
            <a:lvl8pPr marL="4267093" indent="0">
              <a:buNone/>
              <a:defRPr sz="2667"/>
            </a:lvl8pPr>
            <a:lvl9pPr marL="4876678" indent="0">
              <a:buNone/>
              <a:defRPr sz="2667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3656647"/>
            <a:ext cx="3932237" cy="6774392"/>
          </a:xfrm>
        </p:spPr>
        <p:txBody>
          <a:bodyPr/>
          <a:lstStyle>
            <a:lvl1pPr marL="0" indent="0">
              <a:buNone/>
              <a:defRPr sz="2133"/>
            </a:lvl1pPr>
            <a:lvl2pPr marL="609585" indent="0">
              <a:buNone/>
              <a:defRPr sz="1867"/>
            </a:lvl2pPr>
            <a:lvl3pPr marL="1219170" indent="0">
              <a:buNone/>
              <a:defRPr sz="1600"/>
            </a:lvl3pPr>
            <a:lvl4pPr marL="1828754" indent="0">
              <a:buNone/>
              <a:defRPr sz="1333"/>
            </a:lvl4pPr>
            <a:lvl5pPr marL="2438339" indent="0">
              <a:buNone/>
              <a:defRPr sz="1333"/>
            </a:lvl5pPr>
            <a:lvl6pPr marL="3047924" indent="0">
              <a:buNone/>
              <a:defRPr sz="1333"/>
            </a:lvl6pPr>
            <a:lvl7pPr marL="3657509" indent="0">
              <a:buNone/>
              <a:defRPr sz="1333"/>
            </a:lvl7pPr>
            <a:lvl8pPr marL="4267093" indent="0">
              <a:buNone/>
              <a:defRPr sz="1333"/>
            </a:lvl8pPr>
            <a:lvl9pPr marL="4876678" indent="0">
              <a:buNone/>
              <a:defRPr sz="133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A208B9-A1FD-A545-84FD-D19EFD3032C3}" type="datetimeFigureOut">
              <a:rPr lang="en-US" smtClean="0"/>
              <a:t>6/18/25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50C9DA-7183-6D46-9F61-0CDF041940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90677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A208B9-A1FD-A545-84FD-D19EFD3032C3}" type="datetimeFigureOut">
              <a:rPr lang="en-US" smtClean="0"/>
              <a:t>6/18/25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50C9DA-7183-6D46-9F61-0CDF041940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31878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1" y="648942"/>
            <a:ext cx="2628900" cy="1032946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1" y="648942"/>
            <a:ext cx="7734300" cy="1032946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A208B9-A1FD-A545-84FD-D19EFD3032C3}" type="datetimeFigureOut">
              <a:rPr lang="en-US" smtClean="0"/>
              <a:t>6/18/25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50C9DA-7183-6D46-9F61-0CDF041940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23532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648945"/>
            <a:ext cx="10515600" cy="235594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3244711"/>
            <a:ext cx="10515600" cy="773369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11297238"/>
            <a:ext cx="2743200" cy="64894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9A208B9-A1FD-A545-84FD-D19EFD3032C3}" type="datetimeFigureOut">
              <a:rPr lang="en-US" smtClean="0"/>
              <a:t>6/18/25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11297238"/>
            <a:ext cx="4114800" cy="64894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11297238"/>
            <a:ext cx="2743200" cy="64894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250C9DA-7183-6D46-9F61-0CDF041940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66378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1219170" rtl="0" eaLnBrk="1" latinLnBrk="0" hangingPunct="1">
        <a:lnSpc>
          <a:spcPct val="90000"/>
        </a:lnSpc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04792" indent="-304792" algn="l" defTabSz="1219170" rtl="0" eaLnBrk="1" latinLnBrk="0" hangingPunct="1">
        <a:lnSpc>
          <a:spcPct val="90000"/>
        </a:lnSpc>
        <a:spcBef>
          <a:spcPts val="1333"/>
        </a:spcBef>
        <a:buFont typeface="Arial" panose="020B0604020202020204" pitchFamily="34" charset="0"/>
        <a:buChar char="•"/>
        <a:defRPr sz="3733" kern="1200">
          <a:solidFill>
            <a:schemeClr val="tx1"/>
          </a:solidFill>
          <a:latin typeface="+mn-lt"/>
          <a:ea typeface="+mn-ea"/>
          <a:cs typeface="+mn-cs"/>
        </a:defRPr>
      </a:lvl1pPr>
      <a:lvl2pPr marL="914377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image" Target="../media/image2.svg"/><Relationship Id="rId7" Type="http://schemas.openxmlformats.org/officeDocument/2006/relationships/image" Target="../media/image40.png"/><Relationship Id="rId12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11" Type="http://schemas.openxmlformats.org/officeDocument/2006/relationships/image" Target="../media/image8.png"/><Relationship Id="rId5" Type="http://schemas.openxmlformats.org/officeDocument/2006/relationships/image" Target="../media/image4.png"/><Relationship Id="rId10" Type="http://schemas.openxmlformats.org/officeDocument/2006/relationships/image" Target="../media/image7.png"/><Relationship Id="rId4" Type="http://schemas.openxmlformats.org/officeDocument/2006/relationships/image" Target="../media/image3.png"/><Relationship Id="rId9" Type="http://schemas.openxmlformats.org/officeDocument/2006/relationships/image" Target="../media/image6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13" Type="http://schemas.openxmlformats.org/officeDocument/2006/relationships/image" Target="../media/image21.pn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12" Type="http://schemas.openxmlformats.org/officeDocument/2006/relationships/image" Target="../media/image20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11" Type="http://schemas.openxmlformats.org/officeDocument/2006/relationships/image" Target="../media/image19.png"/><Relationship Id="rId5" Type="http://schemas.openxmlformats.org/officeDocument/2006/relationships/image" Target="../media/image13.png"/><Relationship Id="rId10" Type="http://schemas.openxmlformats.org/officeDocument/2006/relationships/image" Target="../media/image18.png"/><Relationship Id="rId4" Type="http://schemas.openxmlformats.org/officeDocument/2006/relationships/image" Target="../media/image12.png"/><Relationship Id="rId9" Type="http://schemas.openxmlformats.org/officeDocument/2006/relationships/image" Target="../media/image17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image" Target="../media/image190.png"/><Relationship Id="rId7" Type="http://schemas.openxmlformats.org/officeDocument/2006/relationships/image" Target="../media/image26.png"/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11" Type="http://schemas.openxmlformats.org/officeDocument/2006/relationships/image" Target="../media/image30.png"/><Relationship Id="rId5" Type="http://schemas.openxmlformats.org/officeDocument/2006/relationships/image" Target="../media/image24.png"/><Relationship Id="rId10" Type="http://schemas.openxmlformats.org/officeDocument/2006/relationships/image" Target="../media/image29.png"/><Relationship Id="rId4" Type="http://schemas.openxmlformats.org/officeDocument/2006/relationships/image" Target="../media/image23.png"/><Relationship Id="rId9" Type="http://schemas.openxmlformats.org/officeDocument/2006/relationships/image" Target="../media/image2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3" name="Group 42">
            <a:extLst>
              <a:ext uri="{FF2B5EF4-FFF2-40B4-BE49-F238E27FC236}">
                <a16:creationId xmlns:a16="http://schemas.microsoft.com/office/drawing/2014/main" id="{EA81C713-7E40-562C-5DF7-63BB84D469F8}"/>
              </a:ext>
            </a:extLst>
          </p:cNvPr>
          <p:cNvGrpSpPr/>
          <p:nvPr/>
        </p:nvGrpSpPr>
        <p:grpSpPr>
          <a:xfrm>
            <a:off x="2663282" y="2886736"/>
            <a:ext cx="7989817" cy="6217867"/>
            <a:chOff x="2663281" y="221323"/>
            <a:chExt cx="7989817" cy="6217867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8D28E1A0-2D24-E7D2-FBEE-6824B82B6C3B}"/>
                </a:ext>
              </a:extLst>
            </p:cNvPr>
            <p:cNvGrpSpPr/>
            <p:nvPr/>
          </p:nvGrpSpPr>
          <p:grpSpPr>
            <a:xfrm>
              <a:off x="2663281" y="221323"/>
              <a:ext cx="7989817" cy="6217867"/>
              <a:chOff x="2108169" y="411291"/>
              <a:chExt cx="4785806" cy="3724429"/>
            </a:xfrm>
          </p:grpSpPr>
          <p:pic>
            <p:nvPicPr>
              <p:cNvPr id="5" name="Graphic 4" descr="Windy with solid fill">
                <a:extLst>
                  <a:ext uri="{FF2B5EF4-FFF2-40B4-BE49-F238E27FC236}">
                    <a16:creationId xmlns:a16="http://schemas.microsoft.com/office/drawing/2014/main" id="{36234F09-DF7F-9830-C166-A92BEE79C57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 rot="1659106">
                <a:off x="2108169" y="1037030"/>
                <a:ext cx="1025141" cy="1025141"/>
              </a:xfrm>
              <a:prstGeom prst="rect">
                <a:avLst/>
              </a:prstGeom>
            </p:spPr>
          </p:pic>
          <p:grpSp>
            <p:nvGrpSpPr>
              <p:cNvPr id="6" name="Group 5">
                <a:extLst>
                  <a:ext uri="{FF2B5EF4-FFF2-40B4-BE49-F238E27FC236}">
                    <a16:creationId xmlns:a16="http://schemas.microsoft.com/office/drawing/2014/main" id="{B2D289E1-1E3E-51D7-28C1-6D41CD2EB187}"/>
                  </a:ext>
                </a:extLst>
              </p:cNvPr>
              <p:cNvGrpSpPr/>
              <p:nvPr/>
            </p:nvGrpSpPr>
            <p:grpSpPr>
              <a:xfrm rot="19800000">
                <a:off x="4397514" y="658002"/>
                <a:ext cx="1280242" cy="3477718"/>
                <a:chOff x="4397514" y="658002"/>
                <a:chExt cx="1280242" cy="3477718"/>
              </a:xfrm>
            </p:grpSpPr>
            <p:sp>
              <p:nvSpPr>
                <p:cNvPr id="19" name="Rounded Rectangle 18">
                  <a:extLst>
                    <a:ext uri="{FF2B5EF4-FFF2-40B4-BE49-F238E27FC236}">
                      <a16:creationId xmlns:a16="http://schemas.microsoft.com/office/drawing/2014/main" id="{D23D2856-02FE-1B9A-3454-7A79385CAAA4}"/>
                    </a:ext>
                  </a:extLst>
                </p:cNvPr>
                <p:cNvSpPr/>
                <p:nvPr/>
              </p:nvSpPr>
              <p:spPr>
                <a:xfrm>
                  <a:off x="4547416" y="2221808"/>
                  <a:ext cx="1130340" cy="350105"/>
                </a:xfrm>
                <a:prstGeom prst="roundRect">
                  <a:avLst/>
                </a:prstGeom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20" name="Triangle 19">
                  <a:extLst>
                    <a:ext uri="{FF2B5EF4-FFF2-40B4-BE49-F238E27FC236}">
                      <a16:creationId xmlns:a16="http://schemas.microsoft.com/office/drawing/2014/main" id="{33722CED-9658-E894-6958-6C4974CD8920}"/>
                    </a:ext>
                  </a:extLst>
                </p:cNvPr>
                <p:cNvSpPr/>
                <p:nvPr/>
              </p:nvSpPr>
              <p:spPr>
                <a:xfrm rot="10800000">
                  <a:off x="4397514" y="2396861"/>
                  <a:ext cx="149902" cy="1738859"/>
                </a:xfrm>
                <a:prstGeom prst="triangle">
                  <a:avLst>
                    <a:gd name="adj" fmla="val 52273"/>
                  </a:avLst>
                </a:prstGeom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" name="Triangle 20">
                  <a:extLst>
                    <a:ext uri="{FF2B5EF4-FFF2-40B4-BE49-F238E27FC236}">
                      <a16:creationId xmlns:a16="http://schemas.microsoft.com/office/drawing/2014/main" id="{B72FA06E-EE40-BD86-509E-0AF32413C09F}"/>
                    </a:ext>
                  </a:extLst>
                </p:cNvPr>
                <p:cNvSpPr/>
                <p:nvPr/>
              </p:nvSpPr>
              <p:spPr>
                <a:xfrm>
                  <a:off x="4397514" y="658002"/>
                  <a:ext cx="149902" cy="1738859"/>
                </a:xfrm>
                <a:prstGeom prst="triangle">
                  <a:avLst>
                    <a:gd name="adj" fmla="val 52273"/>
                  </a:avLst>
                </a:prstGeom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  <p:cxnSp>
            <p:nvCxnSpPr>
              <p:cNvPr id="7" name="Straight Connector 6">
                <a:extLst>
                  <a:ext uri="{FF2B5EF4-FFF2-40B4-BE49-F238E27FC236}">
                    <a16:creationId xmlns:a16="http://schemas.microsoft.com/office/drawing/2014/main" id="{BC4CB615-9A56-33BD-500A-7183AEAD8FB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613094" y="542260"/>
                <a:ext cx="0" cy="2099710"/>
              </a:xfrm>
              <a:prstGeom prst="line">
                <a:avLst/>
              </a:prstGeom>
              <a:ln w="38100">
                <a:solidFill>
                  <a:schemeClr val="bg1">
                    <a:lumMod val="50000"/>
                  </a:schemeClr>
                </a:solidFill>
                <a:prstDash val="dash"/>
                <a:headEnd type="triangle"/>
                <a:tailEnd type="non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" name="Straight Connector 7">
                <a:extLst>
                  <a:ext uri="{FF2B5EF4-FFF2-40B4-BE49-F238E27FC236}">
                    <a16:creationId xmlns:a16="http://schemas.microsoft.com/office/drawing/2014/main" id="{4D091626-FA1F-84F3-B424-660190C7F80A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5679522" y="1592115"/>
                <a:ext cx="0" cy="2099710"/>
              </a:xfrm>
              <a:prstGeom prst="line">
                <a:avLst/>
              </a:prstGeom>
              <a:ln w="38100">
                <a:solidFill>
                  <a:schemeClr val="bg1">
                    <a:lumMod val="50000"/>
                  </a:schemeClr>
                </a:solidFill>
                <a:prstDash val="dash"/>
                <a:headEnd type="triangle"/>
                <a:tailEnd type="non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" name="TextBox 8">
                    <a:extLst>
                      <a:ext uri="{FF2B5EF4-FFF2-40B4-BE49-F238E27FC236}">
                        <a16:creationId xmlns:a16="http://schemas.microsoft.com/office/drawing/2014/main" id="{82A599F0-BCFD-CD5D-CCA9-5CA656F931EA}"/>
                      </a:ext>
                    </a:extLst>
                  </p:cNvPr>
                  <p:cNvSpPr txBox="1"/>
                  <p:nvPr/>
                </p:nvSpPr>
                <p:spPr>
                  <a:xfrm>
                    <a:off x="6394245" y="2641970"/>
                    <a:ext cx="499730" cy="22122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i="1" dirty="0">
                              <a:solidFill>
                                <a:srgbClr val="7F7F7F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9" name="TextBox 8">
                    <a:extLst>
                      <a:ext uri="{FF2B5EF4-FFF2-40B4-BE49-F238E27FC236}">
                        <a16:creationId xmlns:a16="http://schemas.microsoft.com/office/drawing/2014/main" id="{82A599F0-BCFD-CD5D-CCA9-5CA656F931E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394245" y="2641970"/>
                    <a:ext cx="499730" cy="221226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" name="TextBox 9">
                    <a:extLst>
                      <a:ext uri="{FF2B5EF4-FFF2-40B4-BE49-F238E27FC236}">
                        <a16:creationId xmlns:a16="http://schemas.microsoft.com/office/drawing/2014/main" id="{B4CD42B5-D326-DF4E-508F-60547B3EF61D}"/>
                      </a:ext>
                    </a:extLst>
                  </p:cNvPr>
                  <p:cNvSpPr txBox="1"/>
                  <p:nvPr/>
                </p:nvSpPr>
                <p:spPr>
                  <a:xfrm>
                    <a:off x="4233408" y="411291"/>
                    <a:ext cx="499730" cy="22122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i="1" dirty="0">
                              <a:solidFill>
                                <a:srgbClr val="7F7F7F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0" name="TextBox 9">
                    <a:extLst>
                      <a:ext uri="{FF2B5EF4-FFF2-40B4-BE49-F238E27FC236}">
                        <a16:creationId xmlns:a16="http://schemas.microsoft.com/office/drawing/2014/main" id="{B4CD42B5-D326-DF4E-508F-60547B3EF61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233408" y="411291"/>
                    <a:ext cx="499730" cy="221226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b="-666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713BA33E-DDA1-9E99-A1DE-4A2927D4D34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897130" y="2716922"/>
                <a:ext cx="1607289" cy="875414"/>
              </a:xfrm>
              <a:prstGeom prst="line">
                <a:avLst/>
              </a:prstGeom>
              <a:ln w="38100">
                <a:solidFill>
                  <a:srgbClr val="C00000"/>
                </a:solidFill>
                <a:prstDash val="sysDash"/>
                <a:headEnd type="triangle"/>
                <a:tailEnd type="non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04AF62AD-8583-31EE-232E-E85DED8FC257}"/>
                  </a:ext>
                </a:extLst>
              </p:cNvPr>
              <p:cNvCxnSpPr>
                <a:cxnSpLocks/>
                <a:endCxn id="19" idx="1"/>
              </p:cNvCxnSpPr>
              <p:nvPr/>
            </p:nvCxnSpPr>
            <p:spPr>
              <a:xfrm>
                <a:off x="3123414" y="1871175"/>
                <a:ext cx="1489679" cy="770796"/>
              </a:xfrm>
              <a:prstGeom prst="straightConnector1">
                <a:avLst/>
              </a:prstGeom>
              <a:ln w="38100">
                <a:solidFill>
                  <a:srgbClr val="5B9BD5"/>
                </a:solidFill>
                <a:prstDash val="soli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3" name="Arc 12">
                <a:extLst>
                  <a:ext uri="{FF2B5EF4-FFF2-40B4-BE49-F238E27FC236}">
                    <a16:creationId xmlns:a16="http://schemas.microsoft.com/office/drawing/2014/main" id="{6E744F61-CC86-4FE3-E168-6498B6FCBB2A}"/>
                  </a:ext>
                </a:extLst>
              </p:cNvPr>
              <p:cNvSpPr/>
              <p:nvPr/>
            </p:nvSpPr>
            <p:spPr>
              <a:xfrm>
                <a:off x="3927293" y="1997495"/>
                <a:ext cx="1371600" cy="1371600"/>
              </a:xfrm>
              <a:prstGeom prst="arc">
                <a:avLst>
                  <a:gd name="adj1" fmla="val 16298283"/>
                  <a:gd name="adj2" fmla="val 9130534"/>
                </a:avLst>
              </a:prstGeom>
              <a:noFill/>
              <a:ln w="38100">
                <a:solidFill>
                  <a:srgbClr val="C0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4" name="Arc 13">
                <a:extLst>
                  <a:ext uri="{FF2B5EF4-FFF2-40B4-BE49-F238E27FC236}">
                    <a16:creationId xmlns:a16="http://schemas.microsoft.com/office/drawing/2014/main" id="{58D08C88-16F7-73F2-71E7-305C5BF769C1}"/>
                  </a:ext>
                </a:extLst>
              </p:cNvPr>
              <p:cNvSpPr/>
              <p:nvPr/>
            </p:nvSpPr>
            <p:spPr>
              <a:xfrm>
                <a:off x="3769060" y="1816651"/>
                <a:ext cx="1725590" cy="1725590"/>
              </a:xfrm>
              <a:prstGeom prst="arc">
                <a:avLst>
                  <a:gd name="adj1" fmla="val 16222490"/>
                  <a:gd name="adj2" fmla="val 12547643"/>
                </a:avLst>
              </a:prstGeom>
              <a:noFill/>
              <a:ln w="38100">
                <a:solidFill>
                  <a:srgbClr val="5B9BD5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" name="TextBox 14">
                    <a:extLst>
                      <a:ext uri="{FF2B5EF4-FFF2-40B4-BE49-F238E27FC236}">
                        <a16:creationId xmlns:a16="http://schemas.microsoft.com/office/drawing/2014/main" id="{5FC505E4-A594-5697-DEE4-55139404A60E}"/>
                      </a:ext>
                    </a:extLst>
                  </p:cNvPr>
                  <p:cNvSpPr txBox="1"/>
                  <p:nvPr/>
                </p:nvSpPr>
                <p:spPr>
                  <a:xfrm rot="1591325">
                    <a:off x="3078711" y="1978601"/>
                    <a:ext cx="1333876" cy="22122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dirty="0">
                        <a:solidFill>
                          <a:srgbClr val="5B9BD5"/>
                        </a:solidFill>
                        <a:latin typeface="Modern No. 20" panose="02070704070505020303" pitchFamily="18" charset="77"/>
                      </a:rPr>
                      <a:t>Wind Direction, </a:t>
                    </a:r>
                    <a14:m>
                      <m:oMath xmlns:m="http://schemas.openxmlformats.org/officeDocument/2006/math">
                        <m:r>
                          <a:rPr lang="en-US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∠</m:t>
                        </m:r>
                        <m:r>
                          <a:rPr lang="en-US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𝑤</m:t>
                        </m:r>
                      </m:oMath>
                    </a14:m>
                    <a:endParaRPr lang="en-US" dirty="0">
                      <a:solidFill>
                        <a:srgbClr val="5B9BD5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5" name="TextBox 14">
                    <a:extLst>
                      <a:ext uri="{FF2B5EF4-FFF2-40B4-BE49-F238E27FC236}">
                        <a16:creationId xmlns:a16="http://schemas.microsoft.com/office/drawing/2014/main" id="{5FC505E4-A594-5697-DEE4-55139404A60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rot="1591325">
                    <a:off x="3078711" y="1978601"/>
                    <a:ext cx="1333876" cy="221226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l="-3488" t="-283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6" name="TextBox 15">
                    <a:extLst>
                      <a:ext uri="{FF2B5EF4-FFF2-40B4-BE49-F238E27FC236}">
                        <a16:creationId xmlns:a16="http://schemas.microsoft.com/office/drawing/2014/main" id="{D6EDBBC0-1379-7563-0A7A-CA8B9C901C3E}"/>
                      </a:ext>
                    </a:extLst>
                  </p:cNvPr>
                  <p:cNvSpPr txBox="1"/>
                  <p:nvPr/>
                </p:nvSpPr>
                <p:spPr>
                  <a:xfrm rot="19918054">
                    <a:off x="2588899" y="3114242"/>
                    <a:ext cx="1429030" cy="22122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dirty="0">
                        <a:solidFill>
                          <a:srgbClr val="C00000"/>
                        </a:solidFill>
                        <a:latin typeface="Modern No. 20" panose="02070704070505020303" pitchFamily="18" charset="77"/>
                      </a:rPr>
                      <a:t>Nacelle Direction, </a:t>
                    </a:r>
                    <a14:m>
                      <m:oMath xmlns:m="http://schemas.openxmlformats.org/officeDocument/2006/math">
                        <m: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𝛾</m:t>
                        </m:r>
                      </m:oMath>
                    </a14:m>
                    <a:endParaRPr lang="en-US" dirty="0">
                      <a:solidFill>
                        <a:srgbClr val="C0000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6" name="TextBox 15">
                    <a:extLst>
                      <a:ext uri="{FF2B5EF4-FFF2-40B4-BE49-F238E27FC236}">
                        <a16:creationId xmlns:a16="http://schemas.microsoft.com/office/drawing/2014/main" id="{D6EDBBC0-1379-7563-0A7A-CA8B9C901C3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rot="19918054">
                    <a:off x="2588899" y="3114242"/>
                    <a:ext cx="1429030" cy="221226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l="-2210" b="-608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7FAA774-4916-7D31-1E2A-459AD01629F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358214" y="3945401"/>
              <a:ext cx="2356394" cy="0"/>
            </a:xfrm>
            <a:prstGeom prst="line">
              <a:avLst/>
            </a:prstGeom>
            <a:ln w="38100">
              <a:solidFill>
                <a:srgbClr val="5B9BD5"/>
              </a:solidFill>
              <a:prstDash val="sysDot"/>
              <a:headEnd type="triangle"/>
              <a:tailEnd type="non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664A7BF4-C424-3B3C-9882-CC83E71189A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358214" y="2658573"/>
              <a:ext cx="0" cy="1286828"/>
            </a:xfrm>
            <a:prstGeom prst="line">
              <a:avLst/>
            </a:prstGeom>
            <a:ln w="38100">
              <a:solidFill>
                <a:srgbClr val="5B9BD5"/>
              </a:solidFill>
              <a:prstDash val="sysDot"/>
              <a:headEnd type="triangle"/>
              <a:tailEnd type="non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" name="TextBox 31">
                  <a:extLst>
                    <a:ext uri="{FF2B5EF4-FFF2-40B4-BE49-F238E27FC236}">
                      <a16:creationId xmlns:a16="http://schemas.microsoft.com/office/drawing/2014/main" id="{EFBD2434-8998-2C3F-1B2F-CBCDE0DA32D6}"/>
                    </a:ext>
                  </a:extLst>
                </p:cNvPr>
                <p:cNvSpPr txBox="1"/>
                <p:nvPr/>
              </p:nvSpPr>
              <p:spPr>
                <a:xfrm>
                  <a:off x="4853641" y="3964554"/>
                  <a:ext cx="59133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i="1" smtClean="0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p>
                            <m:r>
                              <a:rPr lang="en-US" b="0" i="1" smtClean="0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𝑠</m:t>
                            </m:r>
                          </m:sup>
                        </m:sSup>
                      </m:oMath>
                    </m:oMathPara>
                  </a14:m>
                  <a:endParaRPr lang="en-US" dirty="0">
                    <a:solidFill>
                      <a:srgbClr val="5B9BD5"/>
                    </a:solidFill>
                  </a:endParaRPr>
                </a:p>
              </p:txBody>
            </p:sp>
          </mc:Choice>
          <mc:Fallback xmlns="">
            <p:sp>
              <p:nvSpPr>
                <p:cNvPr id="32" name="TextBox 31">
                  <a:extLst>
                    <a:ext uri="{FF2B5EF4-FFF2-40B4-BE49-F238E27FC236}">
                      <a16:creationId xmlns:a16="http://schemas.microsoft.com/office/drawing/2014/main" id="{EFBD2434-8998-2C3F-1B2F-CBCDE0DA32D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53641" y="3964554"/>
                  <a:ext cx="591334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6C3B0126-9282-3A50-2E07-EB2F58E8870A}"/>
                    </a:ext>
                  </a:extLst>
                </p:cNvPr>
                <p:cNvSpPr txBox="1"/>
                <p:nvPr/>
              </p:nvSpPr>
              <p:spPr>
                <a:xfrm>
                  <a:off x="3848518" y="3117320"/>
                  <a:ext cx="59133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i="1" smtClean="0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p>
                            <m:r>
                              <a:rPr lang="en-US" b="0" i="1" smtClean="0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p>
                        </m:sSup>
                      </m:oMath>
                    </m:oMathPara>
                  </a14:m>
                  <a:endParaRPr lang="en-US" dirty="0">
                    <a:solidFill>
                      <a:srgbClr val="5B9BD5"/>
                    </a:solidFill>
                  </a:endParaRPr>
                </a:p>
              </p:txBody>
            </p:sp>
          </mc:Choice>
          <mc:Fallback xmlns=""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6C3B0126-9282-3A50-2E07-EB2F58E8870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48518" y="3117320"/>
                  <a:ext cx="591334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E89429A2-F77C-0E33-22F3-559343066AF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998781" y="5532020"/>
              <a:ext cx="2715827" cy="0"/>
            </a:xfrm>
            <a:prstGeom prst="line">
              <a:avLst/>
            </a:prstGeom>
            <a:ln w="38100">
              <a:solidFill>
                <a:srgbClr val="C00000"/>
              </a:solidFill>
              <a:prstDash val="sysDot"/>
              <a:headEnd type="triangle"/>
              <a:tailEnd type="non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6BEBEA8F-E269-B25C-3915-349B1503E77B}"/>
                    </a:ext>
                  </a:extLst>
                </p:cNvPr>
                <p:cNvSpPr txBox="1"/>
                <p:nvPr/>
              </p:nvSpPr>
              <p:spPr>
                <a:xfrm>
                  <a:off x="6553540" y="4685666"/>
                  <a:ext cx="701641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𝛾</m:t>
                            </m:r>
                          </m:e>
                          <m:sup>
                            <m: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p>
                        </m:sSup>
                      </m:oMath>
                    </m:oMathPara>
                  </a14:m>
                  <a:endParaRPr lang="en-US" dirty="0">
                    <a:solidFill>
                      <a:srgbClr val="C00000"/>
                    </a:solidFill>
                  </a:endParaRPr>
                </a:p>
              </p:txBody>
            </p:sp>
          </mc:Choice>
          <mc:Fallback xmlns="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6BEBEA8F-E269-B25C-3915-349B1503E77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53540" y="4685666"/>
                  <a:ext cx="701641" cy="369332"/>
                </a:xfrm>
                <a:prstGeom prst="rect">
                  <a:avLst/>
                </a:prstGeom>
                <a:blipFill>
                  <a:blip r:embed="rId11"/>
                  <a:stretch>
                    <a:fillRect b="-1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C875F324-32D2-B40A-240F-95B2D7CCCEF1}"/>
                    </a:ext>
                  </a:extLst>
                </p:cNvPr>
                <p:cNvSpPr txBox="1"/>
                <p:nvPr/>
              </p:nvSpPr>
              <p:spPr>
                <a:xfrm>
                  <a:off x="5250889" y="5541098"/>
                  <a:ext cx="701641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𝛾</m:t>
                            </m:r>
                          </m:e>
                          <m:sup>
                            <m: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𝑠</m:t>
                            </m:r>
                          </m:sup>
                        </m:sSup>
                      </m:oMath>
                    </m:oMathPara>
                  </a14:m>
                  <a:endParaRPr lang="en-US" dirty="0">
                    <a:solidFill>
                      <a:srgbClr val="C00000"/>
                    </a:solidFill>
                  </a:endParaRPr>
                </a:p>
              </p:txBody>
            </p:sp>
          </mc:Choice>
          <mc:Fallback xmlns="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C875F324-32D2-B40A-240F-95B2D7CCCEF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50889" y="5541098"/>
                  <a:ext cx="701641" cy="369332"/>
                </a:xfrm>
                <a:prstGeom prst="rect">
                  <a:avLst/>
                </a:prstGeom>
                <a:blipFill>
                  <a:blip r:embed="rId12"/>
                  <a:stretch>
                    <a:fillRect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30C8927E-A94E-DFF6-3234-ABE473FBFFB1}"/>
                </a:ext>
              </a:extLst>
            </p:cNvPr>
            <p:cNvCxnSpPr>
              <a:cxnSpLocks/>
            </p:cNvCxnSpPr>
            <p:nvPr/>
          </p:nvCxnSpPr>
          <p:spPr>
            <a:xfrm>
              <a:off x="6714608" y="4018335"/>
              <a:ext cx="0" cy="1494533"/>
            </a:xfrm>
            <a:prstGeom prst="line">
              <a:avLst/>
            </a:prstGeom>
            <a:ln w="38100">
              <a:solidFill>
                <a:srgbClr val="C00000"/>
              </a:solidFill>
              <a:prstDash val="sysDot"/>
              <a:headEnd type="triangle"/>
              <a:tailEnd type="non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810753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3D0F06EC-1972-88D0-329F-27ED956EAE4C}"/>
              </a:ext>
            </a:extLst>
          </p:cNvPr>
          <p:cNvSpPr txBox="1"/>
          <p:nvPr/>
        </p:nvSpPr>
        <p:spPr>
          <a:xfrm>
            <a:off x="6108585" y="1806370"/>
            <a:ext cx="327070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Green – removing data</a:t>
            </a:r>
          </a:p>
          <a:p>
            <a:r>
              <a:rPr lang="en-US" dirty="0"/>
              <a:t>Purple – filling data</a:t>
            </a:r>
          </a:p>
          <a:p>
            <a:r>
              <a:rPr lang="en-US" dirty="0"/>
              <a:t>Blue – changing data</a:t>
            </a:r>
          </a:p>
          <a:p>
            <a:r>
              <a:rPr lang="en-US" dirty="0"/>
              <a:t>Orange – rearranging in time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0ED60E0-D888-B4C1-287C-1CD2BBECBE6A}"/>
              </a:ext>
            </a:extLst>
          </p:cNvPr>
          <p:cNvSpPr txBox="1"/>
          <p:nvPr/>
        </p:nvSpPr>
        <p:spPr>
          <a:xfrm>
            <a:off x="2460178" y="2479690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Power-Wind Speed Window Filter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51DE91C-D0ED-8888-27B5-CF8304D3924E}"/>
              </a:ext>
            </a:extLst>
          </p:cNvPr>
          <p:cNvSpPr/>
          <p:nvPr/>
        </p:nvSpPr>
        <p:spPr>
          <a:xfrm>
            <a:off x="10169634" y="6208623"/>
            <a:ext cx="1561651" cy="601883"/>
          </a:xfrm>
          <a:prstGeom prst="rect">
            <a:avLst/>
          </a:prstGeom>
          <a:solidFill>
            <a:srgbClr val="00B0F0"/>
          </a:solidFill>
          <a:ln w="9525"/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Modern No. 20" panose="02070704070505020303" pitchFamily="18" charset="77"/>
              </a:rPr>
              <a:t>Normalization</a:t>
            </a:r>
          </a:p>
        </p:txBody>
      </p:sp>
      <p:grpSp>
        <p:nvGrpSpPr>
          <p:cNvPr id="51" name="Group 50">
            <a:extLst>
              <a:ext uri="{FF2B5EF4-FFF2-40B4-BE49-F238E27FC236}">
                <a16:creationId xmlns:a16="http://schemas.microsoft.com/office/drawing/2014/main" id="{FCEBFED8-F0E4-3613-F646-75B6370F81C1}"/>
              </a:ext>
            </a:extLst>
          </p:cNvPr>
          <p:cNvGrpSpPr/>
          <p:nvPr/>
        </p:nvGrpSpPr>
        <p:grpSpPr>
          <a:xfrm>
            <a:off x="1877654" y="4577441"/>
            <a:ext cx="7236178" cy="3028323"/>
            <a:chOff x="1877654" y="4577441"/>
            <a:chExt cx="7236178" cy="3028323"/>
          </a:xfrm>
        </p:grpSpPr>
        <p:sp>
          <p:nvSpPr>
            <p:cNvPr id="21" name="Right Arrow 20">
              <a:extLst>
                <a:ext uri="{FF2B5EF4-FFF2-40B4-BE49-F238E27FC236}">
                  <a16:creationId xmlns:a16="http://schemas.microsoft.com/office/drawing/2014/main" id="{972D87A0-813A-6720-06C8-195C4CEF8F1E}"/>
                </a:ext>
              </a:extLst>
            </p:cNvPr>
            <p:cNvSpPr/>
            <p:nvPr/>
          </p:nvSpPr>
          <p:spPr>
            <a:xfrm>
              <a:off x="5163308" y="4832973"/>
              <a:ext cx="201021" cy="107992"/>
            </a:xfrm>
            <a:prstGeom prst="rightArrow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0" name="Right Arrow 19">
              <a:extLst>
                <a:ext uri="{FF2B5EF4-FFF2-40B4-BE49-F238E27FC236}">
                  <a16:creationId xmlns:a16="http://schemas.microsoft.com/office/drawing/2014/main" id="{A2D00AFB-F89B-D8CD-EA56-7595E83F4EFF}"/>
                </a:ext>
              </a:extLst>
            </p:cNvPr>
            <p:cNvSpPr/>
            <p:nvPr/>
          </p:nvSpPr>
          <p:spPr>
            <a:xfrm>
              <a:off x="3992661" y="4822992"/>
              <a:ext cx="201021" cy="107992"/>
            </a:xfrm>
            <a:prstGeom prst="rightArrow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9" name="Right Arrow 18">
              <a:extLst>
                <a:ext uri="{FF2B5EF4-FFF2-40B4-BE49-F238E27FC236}">
                  <a16:creationId xmlns:a16="http://schemas.microsoft.com/office/drawing/2014/main" id="{1C6324EA-D5D9-F6BF-0FAF-EDC99A6CDEB3}"/>
                </a:ext>
              </a:extLst>
            </p:cNvPr>
            <p:cNvSpPr/>
            <p:nvPr/>
          </p:nvSpPr>
          <p:spPr>
            <a:xfrm>
              <a:off x="2738487" y="4839680"/>
              <a:ext cx="201021" cy="107992"/>
            </a:xfrm>
            <a:prstGeom prst="rightArrow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" name="Parallelogram 3">
              <a:extLst>
                <a:ext uri="{FF2B5EF4-FFF2-40B4-BE49-F238E27FC236}">
                  <a16:creationId xmlns:a16="http://schemas.microsoft.com/office/drawing/2014/main" id="{6B03AEB8-C88E-C0FB-DA3B-9F1BE318DF69}"/>
                </a:ext>
              </a:extLst>
            </p:cNvPr>
            <p:cNvSpPr/>
            <p:nvPr/>
          </p:nvSpPr>
          <p:spPr>
            <a:xfrm>
              <a:off x="1877654" y="4593409"/>
              <a:ext cx="972273" cy="567159"/>
            </a:xfrm>
            <a:prstGeom prst="parallelogram">
              <a:avLst/>
            </a:prstGeom>
            <a:ln w="9525">
              <a:solidFill>
                <a:schemeClr val="tx1"/>
              </a:solidFill>
            </a:ln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Modern No. 20" panose="02070704070505020303" pitchFamily="18" charset="77"/>
                </a:rPr>
                <a:t>Raw Data</a:t>
              </a: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6C6CA136-BDF8-76C8-DDA8-8145CD97CC1B}"/>
                </a:ext>
              </a:extLst>
            </p:cNvPr>
            <p:cNvSpPr/>
            <p:nvPr/>
          </p:nvSpPr>
          <p:spPr>
            <a:xfrm>
              <a:off x="2950439" y="4592735"/>
              <a:ext cx="1090087" cy="601883"/>
            </a:xfrm>
            <a:prstGeom prst="rect">
              <a:avLst/>
            </a:prstGeom>
            <a:ln w="9525">
              <a:solidFill>
                <a:schemeClr val="tx1"/>
              </a:solidFill>
            </a:ln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3">
              <a:schemeClr val="lt1"/>
            </a:lnRef>
            <a:fillRef idx="1">
              <a:schemeClr val="accent2"/>
            </a:fillRef>
            <a:effectRef idx="1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Modern No. 20" panose="02070704070505020303" pitchFamily="18" charset="77"/>
                </a:rPr>
                <a:t>Resample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BDA98530-CC36-DEBA-0FE0-0E5BCEFCB24E}"/>
                </a:ext>
              </a:extLst>
            </p:cNvPr>
            <p:cNvSpPr/>
            <p:nvPr/>
          </p:nvSpPr>
          <p:spPr>
            <a:xfrm>
              <a:off x="4214205" y="4577441"/>
              <a:ext cx="979716" cy="601883"/>
            </a:xfrm>
            <a:prstGeom prst="rect">
              <a:avLst/>
            </a:prstGeom>
            <a:ln w="9525">
              <a:solidFill>
                <a:schemeClr val="tx1"/>
              </a:solidFill>
            </a:ln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3">
              <a:schemeClr val="lt1"/>
            </a:lnRef>
            <a:fillRef idx="1">
              <a:schemeClr val="accent5"/>
            </a:fillRef>
            <a:effectRef idx="1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Modern No. 20" panose="02070704070505020303" pitchFamily="18" charset="77"/>
                </a:rPr>
                <a:t>Forward Fill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6EC75A86-D67A-0F09-3FF1-6FC3754075B2}"/>
                </a:ext>
              </a:extLst>
            </p:cNvPr>
            <p:cNvSpPr/>
            <p:nvPr/>
          </p:nvSpPr>
          <p:spPr>
            <a:xfrm>
              <a:off x="5367599" y="4580050"/>
              <a:ext cx="1481972" cy="601883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tx1"/>
              </a:solidFill>
            </a:ln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0">
              <a:schemeClr val="accent6"/>
            </a:lnRef>
            <a:fillRef idx="3">
              <a:schemeClr val="accent6"/>
            </a:fillRef>
            <a:effectRef idx="3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Modern No. 20" panose="02070704070505020303" pitchFamily="18" charset="77"/>
                </a:rPr>
                <a:t>Unresponsive Sensor Filter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0FBE1F1E-A304-0DA0-ABBB-34D7CA8CF43A}"/>
                </a:ext>
              </a:extLst>
            </p:cNvPr>
            <p:cNvSpPr/>
            <p:nvPr/>
          </p:nvSpPr>
          <p:spPr>
            <a:xfrm>
              <a:off x="5212993" y="5397496"/>
              <a:ext cx="2213817" cy="601883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0">
              <a:schemeClr val="accent4"/>
            </a:lnRef>
            <a:fillRef idx="3">
              <a:schemeClr val="accent4"/>
            </a:fillRef>
            <a:effectRef idx="3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Modern No. 20" panose="02070704070505020303" pitchFamily="18" charset="77"/>
                </a:rPr>
                <a:t>Nacelle/Wind Direction Calibration</a:t>
              </a: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D35F28A8-CFA8-8F78-2C8E-46A33D1091AB}"/>
                </a:ext>
              </a:extLst>
            </p:cNvPr>
            <p:cNvSpPr/>
            <p:nvPr/>
          </p:nvSpPr>
          <p:spPr>
            <a:xfrm>
              <a:off x="7649860" y="5397340"/>
              <a:ext cx="1360716" cy="601883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tx1"/>
              </a:solidFill>
            </a:ln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0">
              <a:schemeClr val="accent6"/>
            </a:lnRef>
            <a:fillRef idx="3">
              <a:schemeClr val="accent6"/>
            </a:fillRef>
            <a:effectRef idx="3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Modern No. 20" panose="02070704070505020303" pitchFamily="18" charset="77"/>
                </a:rPr>
                <a:t>Power Curve Filter</a:t>
              </a: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42E0E4E2-74D4-606F-0ED8-2ACB1FB88CF7}"/>
                </a:ext>
              </a:extLst>
            </p:cNvPr>
            <p:cNvSpPr/>
            <p:nvPr/>
          </p:nvSpPr>
          <p:spPr>
            <a:xfrm>
              <a:off x="3745413" y="5394041"/>
              <a:ext cx="1240971" cy="601883"/>
            </a:xfrm>
            <a:prstGeom prst="rect">
              <a:avLst/>
            </a:prstGeom>
            <a:solidFill>
              <a:srgbClr val="00B0F0"/>
            </a:solidFill>
            <a:ln w="9525"/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Modern No. 20" panose="02070704070505020303" pitchFamily="18" charset="77"/>
                </a:rPr>
                <a:t>Feature Transform</a:t>
              </a: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B3757315-F2E2-333E-C758-94E2A8ED7695}"/>
                </a:ext>
              </a:extLst>
            </p:cNvPr>
            <p:cNvSpPr/>
            <p:nvPr/>
          </p:nvSpPr>
          <p:spPr>
            <a:xfrm>
              <a:off x="2433426" y="5392877"/>
              <a:ext cx="1090087" cy="601883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tx1"/>
              </a:solidFill>
            </a:ln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0">
              <a:schemeClr val="accent6"/>
            </a:lnRef>
            <a:fillRef idx="3">
              <a:schemeClr val="accent6"/>
            </a:fillRef>
            <a:effectRef idx="3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Modern No. 20" panose="02070704070505020303" pitchFamily="18" charset="77"/>
                </a:rPr>
                <a:t>Std. Dev. Filter</a:t>
              </a: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1EEA77DC-F060-06DB-7309-D7A949E55D92}"/>
                </a:ext>
              </a:extLst>
            </p:cNvPr>
            <p:cNvSpPr/>
            <p:nvPr/>
          </p:nvSpPr>
          <p:spPr>
            <a:xfrm>
              <a:off x="2444582" y="6222971"/>
              <a:ext cx="1090087" cy="601883"/>
            </a:xfrm>
            <a:prstGeom prst="rect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</a:ln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3">
              <a:schemeClr val="lt1"/>
            </a:lnRef>
            <a:fillRef idx="1">
              <a:schemeClr val="accent2"/>
            </a:fillRef>
            <a:effectRef idx="1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Modern No. 20" panose="02070704070505020303" pitchFamily="18" charset="77"/>
                </a:rPr>
                <a:t>Split</a:t>
              </a: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4A595934-9AE8-C4A8-9503-75BC08B67270}"/>
                </a:ext>
              </a:extLst>
            </p:cNvPr>
            <p:cNvSpPr/>
            <p:nvPr/>
          </p:nvSpPr>
          <p:spPr>
            <a:xfrm>
              <a:off x="3755898" y="6222971"/>
              <a:ext cx="1090087" cy="601883"/>
            </a:xfrm>
            <a:prstGeom prst="rect">
              <a:avLst/>
            </a:prstGeom>
            <a:ln w="9525">
              <a:solidFill>
                <a:schemeClr val="tx1"/>
              </a:solidFill>
            </a:ln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3">
              <a:schemeClr val="lt1"/>
            </a:lnRef>
            <a:fillRef idx="1">
              <a:schemeClr val="accent5"/>
            </a:fillRef>
            <a:effectRef idx="1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Modern No. 20" panose="02070704070505020303" pitchFamily="18" charset="77"/>
                </a:rPr>
                <a:t>Impute</a:t>
              </a:r>
            </a:p>
          </p:txBody>
        </p:sp>
        <p:sp>
          <p:nvSpPr>
            <p:cNvPr id="22" name="Right Arrow 21">
              <a:extLst>
                <a:ext uri="{FF2B5EF4-FFF2-40B4-BE49-F238E27FC236}">
                  <a16:creationId xmlns:a16="http://schemas.microsoft.com/office/drawing/2014/main" id="{3F42AE10-13C3-F062-E2EF-44A6762FF2B0}"/>
                </a:ext>
              </a:extLst>
            </p:cNvPr>
            <p:cNvSpPr/>
            <p:nvPr/>
          </p:nvSpPr>
          <p:spPr>
            <a:xfrm rot="5400000">
              <a:off x="8229707" y="5225839"/>
              <a:ext cx="201021" cy="107992"/>
            </a:xfrm>
            <a:prstGeom prst="rightArrow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4" name="Right Arrow 23">
              <a:extLst>
                <a:ext uri="{FF2B5EF4-FFF2-40B4-BE49-F238E27FC236}">
                  <a16:creationId xmlns:a16="http://schemas.microsoft.com/office/drawing/2014/main" id="{7D34DA64-88CC-7A1A-AB2C-34220D46F3D6}"/>
                </a:ext>
              </a:extLst>
            </p:cNvPr>
            <p:cNvSpPr/>
            <p:nvPr/>
          </p:nvSpPr>
          <p:spPr>
            <a:xfrm rot="10800000">
              <a:off x="7440888" y="5649078"/>
              <a:ext cx="201021" cy="107992"/>
            </a:xfrm>
            <a:prstGeom prst="rightArrow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A840F2FC-EF4D-4EAA-AEB9-ADDF05E55FAE}"/>
                </a:ext>
              </a:extLst>
            </p:cNvPr>
            <p:cNvSpPr/>
            <p:nvPr/>
          </p:nvSpPr>
          <p:spPr>
            <a:xfrm>
              <a:off x="1976611" y="7094202"/>
              <a:ext cx="502256" cy="199821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tx1"/>
              </a:solidFill>
            </a:ln>
          </p:spPr>
          <p:style>
            <a:lnRef idx="0">
              <a:schemeClr val="accent6"/>
            </a:lnRef>
            <a:fillRef idx="3">
              <a:schemeClr val="accent6"/>
            </a:fillRef>
            <a:effectRef idx="3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Modern No. 20" panose="02070704070505020303" pitchFamily="18" charset="77"/>
              </a:endParaRPr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CC0A7475-B59F-7697-752E-05F9BA21E1C1}"/>
                </a:ext>
              </a:extLst>
            </p:cNvPr>
            <p:cNvSpPr/>
            <p:nvPr/>
          </p:nvSpPr>
          <p:spPr>
            <a:xfrm>
              <a:off x="1976610" y="7349013"/>
              <a:ext cx="502257" cy="199821"/>
            </a:xfrm>
            <a:prstGeom prst="rect">
              <a:avLst/>
            </a:prstGeom>
            <a:ln w="9525">
              <a:solidFill>
                <a:schemeClr val="tx1"/>
              </a:solidFill>
            </a:ln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3">
              <a:schemeClr val="lt1"/>
            </a:lnRef>
            <a:fillRef idx="1">
              <a:schemeClr val="accent2"/>
            </a:fillRef>
            <a:effectRef idx="1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Modern No. 20" panose="02070704070505020303" pitchFamily="18" charset="77"/>
              </a:endParaRPr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F1528259-1A52-7806-3A78-73B173F37E3E}"/>
                </a:ext>
              </a:extLst>
            </p:cNvPr>
            <p:cNvSpPr/>
            <p:nvPr/>
          </p:nvSpPr>
          <p:spPr>
            <a:xfrm>
              <a:off x="4140026" y="7094202"/>
              <a:ext cx="502256" cy="199821"/>
            </a:xfrm>
            <a:prstGeom prst="rect">
              <a:avLst/>
            </a:prstGeom>
            <a:ln w="9525">
              <a:solidFill>
                <a:schemeClr val="tx1"/>
              </a:solidFill>
            </a:ln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3">
              <a:schemeClr val="lt1"/>
            </a:lnRef>
            <a:fillRef idx="1">
              <a:schemeClr val="accent5"/>
            </a:fillRef>
            <a:effectRef idx="1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Modern No. 20" panose="02070704070505020303" pitchFamily="18" charset="77"/>
              </a:endParaRPr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CA92C061-1DBD-1A5A-C34F-9FBF03284DD6}"/>
                </a:ext>
              </a:extLst>
            </p:cNvPr>
            <p:cNvSpPr/>
            <p:nvPr/>
          </p:nvSpPr>
          <p:spPr>
            <a:xfrm>
              <a:off x="4140025" y="7349013"/>
              <a:ext cx="502258" cy="199821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0">
              <a:schemeClr val="accent4"/>
            </a:lnRef>
            <a:fillRef idx="3">
              <a:schemeClr val="accent4"/>
            </a:fillRef>
            <a:effectRef idx="3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Modern No. 20" panose="02070704070505020303" pitchFamily="18" charset="77"/>
              </a:endParaRP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3C2889D2-234C-E7CA-D82C-C29D3BCC2A56}"/>
                </a:ext>
              </a:extLst>
            </p:cNvPr>
            <p:cNvSpPr txBox="1"/>
            <p:nvPr/>
          </p:nvSpPr>
          <p:spPr>
            <a:xfrm>
              <a:off x="2460178" y="7040224"/>
              <a:ext cx="1303562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latin typeface="Modern No. 20" panose="02070704070505020303" pitchFamily="18" charset="77"/>
                </a:rPr>
                <a:t>Removing Data</a:t>
              </a: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4C919189-B9F4-5AA2-3B4E-9DD358FBC9D5}"/>
                </a:ext>
              </a:extLst>
            </p:cNvPr>
            <p:cNvSpPr txBox="1"/>
            <p:nvPr/>
          </p:nvSpPr>
          <p:spPr>
            <a:xfrm>
              <a:off x="2466091" y="7295035"/>
              <a:ext cx="171393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latin typeface="Modern No. 20" panose="02070704070505020303" pitchFamily="18" charset="77"/>
                </a:rPr>
                <a:t>Rearranging in Time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C5F02DD1-37BE-8E37-6E74-BF989D04753A}"/>
                </a:ext>
              </a:extLst>
            </p:cNvPr>
            <p:cNvSpPr txBox="1"/>
            <p:nvPr/>
          </p:nvSpPr>
          <p:spPr>
            <a:xfrm>
              <a:off x="4642281" y="7040224"/>
              <a:ext cx="109677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latin typeface="Modern No. 20" panose="02070704070505020303" pitchFamily="18" charset="77"/>
                </a:rPr>
                <a:t>Filling Data</a:t>
              </a: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1235D203-7AC0-9986-B6F4-8D245635DFB4}"/>
                </a:ext>
              </a:extLst>
            </p:cNvPr>
            <p:cNvSpPr txBox="1"/>
            <p:nvPr/>
          </p:nvSpPr>
          <p:spPr>
            <a:xfrm>
              <a:off x="4642280" y="7295035"/>
              <a:ext cx="126989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latin typeface="Modern No. 20" panose="02070704070505020303" pitchFamily="18" charset="77"/>
                </a:rPr>
                <a:t>Changing Data</a:t>
              </a:r>
            </a:p>
          </p:txBody>
        </p:sp>
        <p:sp>
          <p:nvSpPr>
            <p:cNvPr id="39" name="Parallelogram 38">
              <a:extLst>
                <a:ext uri="{FF2B5EF4-FFF2-40B4-BE49-F238E27FC236}">
                  <a16:creationId xmlns:a16="http://schemas.microsoft.com/office/drawing/2014/main" id="{FDA5EA7C-51D1-15F7-A2F3-AEF94CA4BBD8}"/>
                </a:ext>
              </a:extLst>
            </p:cNvPr>
            <p:cNvSpPr/>
            <p:nvPr/>
          </p:nvSpPr>
          <p:spPr>
            <a:xfrm>
              <a:off x="4996164" y="6240333"/>
              <a:ext cx="4008968" cy="567159"/>
            </a:xfrm>
            <a:prstGeom prst="parallelogram">
              <a:avLst/>
            </a:prstGeom>
            <a:ln w="9525">
              <a:solidFill>
                <a:schemeClr val="tx1"/>
              </a:solidFill>
            </a:ln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Modern No. 20" panose="02070704070505020303" pitchFamily="18" charset="77"/>
                </a:rPr>
                <a:t>Filtered, Continuous Data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9F32C008-A23C-A358-EBB5-A68B34198C77}"/>
                </a:ext>
              </a:extLst>
            </p:cNvPr>
            <p:cNvSpPr/>
            <p:nvPr/>
          </p:nvSpPr>
          <p:spPr>
            <a:xfrm>
              <a:off x="7064273" y="4582432"/>
              <a:ext cx="1949291" cy="601883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tx1"/>
              </a:solidFill>
            </a:ln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0">
              <a:schemeClr val="accent6"/>
            </a:lnRef>
            <a:fillRef idx="3">
              <a:schemeClr val="accent6"/>
            </a:fillRef>
            <a:effectRef idx="3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Modern No. 20" panose="02070704070505020303" pitchFamily="18" charset="77"/>
                </a:rPr>
                <a:t>Power-Wind Speed Window Filter</a:t>
              </a:r>
            </a:p>
          </p:txBody>
        </p:sp>
        <p:sp>
          <p:nvSpPr>
            <p:cNvPr id="17" name="Right Arrow 16">
              <a:extLst>
                <a:ext uri="{FF2B5EF4-FFF2-40B4-BE49-F238E27FC236}">
                  <a16:creationId xmlns:a16="http://schemas.microsoft.com/office/drawing/2014/main" id="{921AAC4B-9EB2-22B3-E3D0-E1282F403612}"/>
                </a:ext>
              </a:extLst>
            </p:cNvPr>
            <p:cNvSpPr/>
            <p:nvPr/>
          </p:nvSpPr>
          <p:spPr>
            <a:xfrm rot="10800000">
              <a:off x="4996164" y="5641377"/>
              <a:ext cx="201021" cy="107992"/>
            </a:xfrm>
            <a:prstGeom prst="rightArrow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1" name="Right Arrow 40">
              <a:extLst>
                <a:ext uri="{FF2B5EF4-FFF2-40B4-BE49-F238E27FC236}">
                  <a16:creationId xmlns:a16="http://schemas.microsoft.com/office/drawing/2014/main" id="{7F0EA875-9320-77C3-463D-B3802F4E65EC}"/>
                </a:ext>
              </a:extLst>
            </p:cNvPr>
            <p:cNvSpPr/>
            <p:nvPr/>
          </p:nvSpPr>
          <p:spPr>
            <a:xfrm>
              <a:off x="6849594" y="4828724"/>
              <a:ext cx="201021" cy="107992"/>
            </a:xfrm>
            <a:prstGeom prst="rightArrow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2" name="Right Arrow 41">
              <a:extLst>
                <a:ext uri="{FF2B5EF4-FFF2-40B4-BE49-F238E27FC236}">
                  <a16:creationId xmlns:a16="http://schemas.microsoft.com/office/drawing/2014/main" id="{B4D351F7-DFC8-A7DB-BE99-C494A14FABBE}"/>
                </a:ext>
              </a:extLst>
            </p:cNvPr>
            <p:cNvSpPr/>
            <p:nvPr/>
          </p:nvSpPr>
          <p:spPr>
            <a:xfrm rot="10800000">
              <a:off x="3534788" y="5635009"/>
              <a:ext cx="201021" cy="107992"/>
            </a:xfrm>
            <a:prstGeom prst="rightArrow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3" name="Right Arrow 42">
              <a:extLst>
                <a:ext uri="{FF2B5EF4-FFF2-40B4-BE49-F238E27FC236}">
                  <a16:creationId xmlns:a16="http://schemas.microsoft.com/office/drawing/2014/main" id="{E11D6FD3-2041-3783-0135-9A00C405A498}"/>
                </a:ext>
              </a:extLst>
            </p:cNvPr>
            <p:cNvSpPr/>
            <p:nvPr/>
          </p:nvSpPr>
          <p:spPr>
            <a:xfrm>
              <a:off x="4852874" y="6469916"/>
              <a:ext cx="201021" cy="107992"/>
            </a:xfrm>
            <a:prstGeom prst="rightArrow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4" name="Right Arrow 43">
              <a:extLst>
                <a:ext uri="{FF2B5EF4-FFF2-40B4-BE49-F238E27FC236}">
                  <a16:creationId xmlns:a16="http://schemas.microsoft.com/office/drawing/2014/main" id="{F0E99AE0-4FF2-6503-BB76-E738750F0D11}"/>
                </a:ext>
              </a:extLst>
            </p:cNvPr>
            <p:cNvSpPr/>
            <p:nvPr/>
          </p:nvSpPr>
          <p:spPr>
            <a:xfrm rot="5400000">
              <a:off x="2877958" y="6054116"/>
              <a:ext cx="201021" cy="107992"/>
            </a:xfrm>
            <a:prstGeom prst="rightArrow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0" name="Right Arrow 9">
              <a:extLst>
                <a:ext uri="{FF2B5EF4-FFF2-40B4-BE49-F238E27FC236}">
                  <a16:creationId xmlns:a16="http://schemas.microsoft.com/office/drawing/2014/main" id="{8D87CEBC-B562-369C-9272-65E20ECB56E8}"/>
                </a:ext>
              </a:extLst>
            </p:cNvPr>
            <p:cNvSpPr/>
            <p:nvPr/>
          </p:nvSpPr>
          <p:spPr>
            <a:xfrm>
              <a:off x="3541932" y="6469916"/>
              <a:ext cx="201021" cy="107992"/>
            </a:xfrm>
            <a:prstGeom prst="rightArrow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7" name="Parallelogram 36">
              <a:extLst>
                <a:ext uri="{FF2B5EF4-FFF2-40B4-BE49-F238E27FC236}">
                  <a16:creationId xmlns:a16="http://schemas.microsoft.com/office/drawing/2014/main" id="{5DEDDE0A-57BD-D69C-6320-F06E9956EF93}"/>
                </a:ext>
              </a:extLst>
            </p:cNvPr>
            <p:cNvSpPr/>
            <p:nvPr/>
          </p:nvSpPr>
          <p:spPr>
            <a:xfrm>
              <a:off x="5913432" y="7225273"/>
              <a:ext cx="2240280" cy="380491"/>
            </a:xfrm>
            <a:prstGeom prst="parallelogram">
              <a:avLst/>
            </a:prstGeom>
            <a:ln w="9525">
              <a:solidFill>
                <a:schemeClr val="tx1"/>
              </a:solidFill>
            </a:ln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>
                  <a:latin typeface="Modern No. 20" panose="02070704070505020303" pitchFamily="18" charset="77"/>
                </a:rPr>
                <a:t>Training</a:t>
              </a:r>
              <a:endParaRPr lang="en-US" dirty="0">
                <a:latin typeface="Modern No. 20" panose="02070704070505020303" pitchFamily="18" charset="77"/>
              </a:endParaRPr>
            </a:p>
          </p:txBody>
        </p:sp>
        <p:sp>
          <p:nvSpPr>
            <p:cNvPr id="38" name="Parallelogram 37">
              <a:extLst>
                <a:ext uri="{FF2B5EF4-FFF2-40B4-BE49-F238E27FC236}">
                  <a16:creationId xmlns:a16="http://schemas.microsoft.com/office/drawing/2014/main" id="{7E40B525-E0B0-3096-CE51-7EA04F8017C9}"/>
                </a:ext>
              </a:extLst>
            </p:cNvPr>
            <p:cNvSpPr/>
            <p:nvPr/>
          </p:nvSpPr>
          <p:spPr>
            <a:xfrm>
              <a:off x="8153712" y="7213851"/>
              <a:ext cx="320040" cy="388962"/>
            </a:xfrm>
            <a:prstGeom prst="parallelogram">
              <a:avLst/>
            </a:prstGeom>
            <a:ln w="9525">
              <a:solidFill>
                <a:schemeClr val="tx1"/>
              </a:solidFill>
            </a:ln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>
                  <a:latin typeface="Modern No. 20" panose="02070704070505020303" pitchFamily="18" charset="77"/>
                </a:rPr>
                <a:t>V</a:t>
              </a:r>
              <a:endParaRPr lang="en-US" dirty="0">
                <a:latin typeface="Modern No. 20" panose="02070704070505020303" pitchFamily="18" charset="77"/>
              </a:endParaRPr>
            </a:p>
          </p:txBody>
        </p:sp>
        <p:sp>
          <p:nvSpPr>
            <p:cNvPr id="40" name="Parallelogram 39">
              <a:extLst>
                <a:ext uri="{FF2B5EF4-FFF2-40B4-BE49-F238E27FC236}">
                  <a16:creationId xmlns:a16="http://schemas.microsoft.com/office/drawing/2014/main" id="{6FAB8EC8-A30F-7819-C249-BF72B2F69D38}"/>
                </a:ext>
              </a:extLst>
            </p:cNvPr>
            <p:cNvSpPr/>
            <p:nvPr/>
          </p:nvSpPr>
          <p:spPr>
            <a:xfrm>
              <a:off x="8473752" y="7225273"/>
              <a:ext cx="640080" cy="380491"/>
            </a:xfrm>
            <a:prstGeom prst="parallelogram">
              <a:avLst/>
            </a:prstGeom>
            <a:ln w="9525">
              <a:solidFill>
                <a:schemeClr val="tx1"/>
              </a:solidFill>
            </a:ln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>
                  <a:latin typeface="Modern No. 20" panose="02070704070505020303" pitchFamily="18" charset="77"/>
                </a:rPr>
                <a:t>Ts</a:t>
              </a:r>
              <a:endParaRPr lang="en-US" dirty="0">
                <a:latin typeface="Modern No. 20" panose="02070704070505020303" pitchFamily="18" charset="77"/>
              </a:endParaRPr>
            </a:p>
          </p:txBody>
        </p:sp>
        <p:sp>
          <p:nvSpPr>
            <p:cNvPr id="45" name="Right Arrow 44">
              <a:extLst>
                <a:ext uri="{FF2B5EF4-FFF2-40B4-BE49-F238E27FC236}">
                  <a16:creationId xmlns:a16="http://schemas.microsoft.com/office/drawing/2014/main" id="{34F8E07E-7832-B610-8AEF-A59442B53D30}"/>
                </a:ext>
              </a:extLst>
            </p:cNvPr>
            <p:cNvSpPr/>
            <p:nvPr/>
          </p:nvSpPr>
          <p:spPr>
            <a:xfrm rot="5400000" flipV="1">
              <a:off x="8554201" y="6960756"/>
              <a:ext cx="402336" cy="112247"/>
            </a:xfrm>
            <a:prstGeom prst="rightArrow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6" name="Right Arrow 45">
              <a:extLst>
                <a:ext uri="{FF2B5EF4-FFF2-40B4-BE49-F238E27FC236}">
                  <a16:creationId xmlns:a16="http://schemas.microsoft.com/office/drawing/2014/main" id="{D9518525-8B66-4EAA-BAE3-6C20DA96C660}"/>
                </a:ext>
              </a:extLst>
            </p:cNvPr>
            <p:cNvSpPr/>
            <p:nvPr/>
          </p:nvSpPr>
          <p:spPr>
            <a:xfrm rot="5400000" flipV="1">
              <a:off x="8136362" y="6960756"/>
              <a:ext cx="402336" cy="112247"/>
            </a:xfrm>
            <a:prstGeom prst="rightArrow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7" name="Right Arrow 46">
              <a:extLst>
                <a:ext uri="{FF2B5EF4-FFF2-40B4-BE49-F238E27FC236}">
                  <a16:creationId xmlns:a16="http://schemas.microsoft.com/office/drawing/2014/main" id="{F9E11317-E49E-98EB-0C17-99360D8E2674}"/>
                </a:ext>
              </a:extLst>
            </p:cNvPr>
            <p:cNvSpPr/>
            <p:nvPr/>
          </p:nvSpPr>
          <p:spPr>
            <a:xfrm rot="5400000" flipV="1">
              <a:off x="7718522" y="6960756"/>
              <a:ext cx="402336" cy="112247"/>
            </a:xfrm>
            <a:prstGeom prst="rightArrow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18423820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A15F76-B4E8-2E75-E0B2-95CECA2A60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6019C22B-2B66-0190-473F-E1CD5D233279}"/>
              </a:ext>
            </a:extLst>
          </p:cNvPr>
          <p:cNvSpPr txBox="1"/>
          <p:nvPr/>
        </p:nvSpPr>
        <p:spPr>
          <a:xfrm>
            <a:off x="6108585" y="1806370"/>
            <a:ext cx="327070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Green – removing data</a:t>
            </a:r>
          </a:p>
          <a:p>
            <a:r>
              <a:rPr lang="en-US" dirty="0"/>
              <a:t>Purple – filling data</a:t>
            </a:r>
          </a:p>
          <a:p>
            <a:r>
              <a:rPr lang="en-US" dirty="0"/>
              <a:t>Blue – changing data</a:t>
            </a:r>
          </a:p>
          <a:p>
            <a:r>
              <a:rPr lang="en-US" dirty="0"/>
              <a:t>Orange – rearranging in time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9EE2871-4AD1-F7E7-7294-BF5CC3354503}"/>
              </a:ext>
            </a:extLst>
          </p:cNvPr>
          <p:cNvSpPr txBox="1"/>
          <p:nvPr/>
        </p:nvSpPr>
        <p:spPr>
          <a:xfrm>
            <a:off x="2460178" y="2479690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Power-Wind Speed Window Filter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5D726E19-CBAE-EE7A-E7CC-52A9B46A8BFE}"/>
              </a:ext>
            </a:extLst>
          </p:cNvPr>
          <p:cNvGrpSpPr/>
          <p:nvPr/>
        </p:nvGrpSpPr>
        <p:grpSpPr>
          <a:xfrm>
            <a:off x="1877654" y="4577441"/>
            <a:ext cx="7135910" cy="3038747"/>
            <a:chOff x="1877654" y="4577441"/>
            <a:chExt cx="7135910" cy="3038747"/>
          </a:xfrm>
        </p:grpSpPr>
        <p:sp>
          <p:nvSpPr>
            <p:cNvPr id="45" name="Right Arrow 44">
              <a:extLst>
                <a:ext uri="{FF2B5EF4-FFF2-40B4-BE49-F238E27FC236}">
                  <a16:creationId xmlns:a16="http://schemas.microsoft.com/office/drawing/2014/main" id="{74BB7962-ABD6-B3A6-5007-73432A8772BC}"/>
                </a:ext>
              </a:extLst>
            </p:cNvPr>
            <p:cNvSpPr/>
            <p:nvPr/>
          </p:nvSpPr>
          <p:spPr>
            <a:xfrm rot="5400000" flipV="1">
              <a:off x="8625449" y="6958659"/>
              <a:ext cx="402336" cy="112247"/>
            </a:xfrm>
            <a:prstGeom prst="rightArrow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6" name="Right Arrow 45">
              <a:extLst>
                <a:ext uri="{FF2B5EF4-FFF2-40B4-BE49-F238E27FC236}">
                  <a16:creationId xmlns:a16="http://schemas.microsoft.com/office/drawing/2014/main" id="{77AE162D-2AE0-3568-4F23-1875D20D94E7}"/>
                </a:ext>
              </a:extLst>
            </p:cNvPr>
            <p:cNvSpPr/>
            <p:nvPr/>
          </p:nvSpPr>
          <p:spPr>
            <a:xfrm rot="5400000" flipV="1">
              <a:off x="8380900" y="6952589"/>
              <a:ext cx="402336" cy="112247"/>
            </a:xfrm>
            <a:prstGeom prst="rightArrow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7" name="Right Arrow 46">
              <a:extLst>
                <a:ext uri="{FF2B5EF4-FFF2-40B4-BE49-F238E27FC236}">
                  <a16:creationId xmlns:a16="http://schemas.microsoft.com/office/drawing/2014/main" id="{65B62B68-89EF-6BA8-94C6-6850921FCB2B}"/>
                </a:ext>
              </a:extLst>
            </p:cNvPr>
            <p:cNvSpPr/>
            <p:nvPr/>
          </p:nvSpPr>
          <p:spPr>
            <a:xfrm rot="5400000" flipV="1">
              <a:off x="7162636" y="6958658"/>
              <a:ext cx="402336" cy="112247"/>
            </a:xfrm>
            <a:prstGeom prst="rightArrow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5837D225-8D35-7E67-7606-0856608CB1FA}"/>
                </a:ext>
              </a:extLst>
            </p:cNvPr>
            <p:cNvSpPr/>
            <p:nvPr/>
          </p:nvSpPr>
          <p:spPr>
            <a:xfrm>
              <a:off x="4473455" y="6227718"/>
              <a:ext cx="1561651" cy="601883"/>
            </a:xfrm>
            <a:prstGeom prst="rect">
              <a:avLst/>
            </a:prstGeom>
            <a:solidFill>
              <a:srgbClr val="00B0F0"/>
            </a:solidFill>
            <a:ln w="9525"/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Modern No. 20" panose="02070704070505020303" pitchFamily="18" charset="77"/>
                </a:rPr>
                <a:t>Normalization</a:t>
              </a:r>
            </a:p>
          </p:txBody>
        </p:sp>
        <p:sp>
          <p:nvSpPr>
            <p:cNvPr id="21" name="Right Arrow 20">
              <a:extLst>
                <a:ext uri="{FF2B5EF4-FFF2-40B4-BE49-F238E27FC236}">
                  <a16:creationId xmlns:a16="http://schemas.microsoft.com/office/drawing/2014/main" id="{FCA604B4-3235-2933-13FD-34F799EC6BCE}"/>
                </a:ext>
              </a:extLst>
            </p:cNvPr>
            <p:cNvSpPr/>
            <p:nvPr/>
          </p:nvSpPr>
          <p:spPr>
            <a:xfrm>
              <a:off x="5163308" y="4832973"/>
              <a:ext cx="201021" cy="107992"/>
            </a:xfrm>
            <a:prstGeom prst="rightArrow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0" name="Right Arrow 19">
              <a:extLst>
                <a:ext uri="{FF2B5EF4-FFF2-40B4-BE49-F238E27FC236}">
                  <a16:creationId xmlns:a16="http://schemas.microsoft.com/office/drawing/2014/main" id="{D9482A8A-83EF-1D6D-97FA-E01B2393D9DB}"/>
                </a:ext>
              </a:extLst>
            </p:cNvPr>
            <p:cNvSpPr/>
            <p:nvPr/>
          </p:nvSpPr>
          <p:spPr>
            <a:xfrm>
              <a:off x="3992661" y="4822992"/>
              <a:ext cx="201021" cy="107992"/>
            </a:xfrm>
            <a:prstGeom prst="rightArrow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9" name="Right Arrow 18">
              <a:extLst>
                <a:ext uri="{FF2B5EF4-FFF2-40B4-BE49-F238E27FC236}">
                  <a16:creationId xmlns:a16="http://schemas.microsoft.com/office/drawing/2014/main" id="{BF749671-7734-41D2-4CCC-E04F9540E66C}"/>
                </a:ext>
              </a:extLst>
            </p:cNvPr>
            <p:cNvSpPr/>
            <p:nvPr/>
          </p:nvSpPr>
          <p:spPr>
            <a:xfrm>
              <a:off x="2738487" y="4839680"/>
              <a:ext cx="201021" cy="107992"/>
            </a:xfrm>
            <a:prstGeom prst="rightArrow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" name="Parallelogram 3">
              <a:extLst>
                <a:ext uri="{FF2B5EF4-FFF2-40B4-BE49-F238E27FC236}">
                  <a16:creationId xmlns:a16="http://schemas.microsoft.com/office/drawing/2014/main" id="{7D53A578-421B-7EA6-780E-C09CFBBD58E3}"/>
                </a:ext>
              </a:extLst>
            </p:cNvPr>
            <p:cNvSpPr/>
            <p:nvPr/>
          </p:nvSpPr>
          <p:spPr>
            <a:xfrm>
              <a:off x="1877654" y="4593409"/>
              <a:ext cx="972273" cy="567159"/>
            </a:xfrm>
            <a:prstGeom prst="parallelogram">
              <a:avLst/>
            </a:prstGeom>
            <a:ln w="9525">
              <a:solidFill>
                <a:schemeClr val="tx1"/>
              </a:solidFill>
            </a:ln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Modern No. 20" panose="02070704070505020303" pitchFamily="18" charset="77"/>
                </a:rPr>
                <a:t>Raw Data</a:t>
              </a: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4E03B906-23A4-B9F5-AA88-39F3784A4E6F}"/>
                </a:ext>
              </a:extLst>
            </p:cNvPr>
            <p:cNvSpPr/>
            <p:nvPr/>
          </p:nvSpPr>
          <p:spPr>
            <a:xfrm>
              <a:off x="2950439" y="4592735"/>
              <a:ext cx="1090087" cy="601883"/>
            </a:xfrm>
            <a:prstGeom prst="rect">
              <a:avLst/>
            </a:prstGeom>
            <a:ln w="9525">
              <a:solidFill>
                <a:schemeClr val="tx1"/>
              </a:solidFill>
            </a:ln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3">
              <a:schemeClr val="lt1"/>
            </a:lnRef>
            <a:fillRef idx="1">
              <a:schemeClr val="accent2"/>
            </a:fillRef>
            <a:effectRef idx="1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Modern No. 20" panose="02070704070505020303" pitchFamily="18" charset="77"/>
                </a:rPr>
                <a:t>Resample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1E31545C-D432-F926-83B1-FF10CB78C8EE}"/>
                </a:ext>
              </a:extLst>
            </p:cNvPr>
            <p:cNvSpPr/>
            <p:nvPr/>
          </p:nvSpPr>
          <p:spPr>
            <a:xfrm>
              <a:off x="4214205" y="4577441"/>
              <a:ext cx="979716" cy="601883"/>
            </a:xfrm>
            <a:prstGeom prst="rect">
              <a:avLst/>
            </a:prstGeom>
            <a:ln w="9525">
              <a:solidFill>
                <a:schemeClr val="tx1"/>
              </a:solidFill>
            </a:ln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3">
              <a:schemeClr val="lt1"/>
            </a:lnRef>
            <a:fillRef idx="1">
              <a:schemeClr val="accent5"/>
            </a:fillRef>
            <a:effectRef idx="1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Modern No. 20" panose="02070704070505020303" pitchFamily="18" charset="77"/>
                </a:rPr>
                <a:t>Forward Fill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6CE38BC2-A4C1-9F3B-7596-BA17612E8A19}"/>
                </a:ext>
              </a:extLst>
            </p:cNvPr>
            <p:cNvSpPr/>
            <p:nvPr/>
          </p:nvSpPr>
          <p:spPr>
            <a:xfrm>
              <a:off x="5367599" y="4580050"/>
              <a:ext cx="1481972" cy="601883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tx1"/>
              </a:solidFill>
            </a:ln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0">
              <a:schemeClr val="accent6"/>
            </a:lnRef>
            <a:fillRef idx="3">
              <a:schemeClr val="accent6"/>
            </a:fillRef>
            <a:effectRef idx="3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Modern No. 20" panose="02070704070505020303" pitchFamily="18" charset="77"/>
                </a:rPr>
                <a:t>Unresponsive Sensor Filter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D61E86F-BC0D-5201-A39D-5D8787471CFB}"/>
                </a:ext>
              </a:extLst>
            </p:cNvPr>
            <p:cNvSpPr/>
            <p:nvPr/>
          </p:nvSpPr>
          <p:spPr>
            <a:xfrm>
              <a:off x="5212993" y="5397496"/>
              <a:ext cx="2213817" cy="601883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0">
              <a:schemeClr val="accent4"/>
            </a:lnRef>
            <a:fillRef idx="3">
              <a:schemeClr val="accent4"/>
            </a:fillRef>
            <a:effectRef idx="3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Modern No. 20" panose="02070704070505020303" pitchFamily="18" charset="77"/>
                </a:rPr>
                <a:t>Nacelle/Wind Direction Calibration</a:t>
              </a: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6168D909-95AE-2B73-A25D-4C636B2F2BB8}"/>
                </a:ext>
              </a:extLst>
            </p:cNvPr>
            <p:cNvSpPr/>
            <p:nvPr/>
          </p:nvSpPr>
          <p:spPr>
            <a:xfrm>
              <a:off x="7649860" y="5397340"/>
              <a:ext cx="1360716" cy="601883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tx1"/>
              </a:solidFill>
            </a:ln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0">
              <a:schemeClr val="accent6"/>
            </a:lnRef>
            <a:fillRef idx="3">
              <a:schemeClr val="accent6"/>
            </a:fillRef>
            <a:effectRef idx="3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Modern No. 20" panose="02070704070505020303" pitchFamily="18" charset="77"/>
                </a:rPr>
                <a:t>Power Curve Filter</a:t>
              </a: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25C864B5-7436-591F-BFE0-D123C4A26E2A}"/>
                </a:ext>
              </a:extLst>
            </p:cNvPr>
            <p:cNvSpPr/>
            <p:nvPr/>
          </p:nvSpPr>
          <p:spPr>
            <a:xfrm>
              <a:off x="3745413" y="5394041"/>
              <a:ext cx="1240971" cy="601883"/>
            </a:xfrm>
            <a:prstGeom prst="rect">
              <a:avLst/>
            </a:prstGeom>
            <a:solidFill>
              <a:srgbClr val="00B0F0"/>
            </a:solidFill>
            <a:ln w="9525"/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Modern No. 20" panose="02070704070505020303" pitchFamily="18" charset="77"/>
                </a:rPr>
                <a:t>Feature Transform</a:t>
              </a: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15DCBF3C-4818-A567-AA68-38450C85A81E}"/>
                </a:ext>
              </a:extLst>
            </p:cNvPr>
            <p:cNvSpPr/>
            <p:nvPr/>
          </p:nvSpPr>
          <p:spPr>
            <a:xfrm>
              <a:off x="2433426" y="5392877"/>
              <a:ext cx="1090087" cy="601883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tx1"/>
              </a:solidFill>
            </a:ln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0">
              <a:schemeClr val="accent6"/>
            </a:lnRef>
            <a:fillRef idx="3">
              <a:schemeClr val="accent6"/>
            </a:fillRef>
            <a:effectRef idx="3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Modern No. 20" panose="02070704070505020303" pitchFamily="18" charset="77"/>
                </a:rPr>
                <a:t>Std. Dev. Filter</a:t>
              </a: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5F8962CF-A596-DE58-D3FF-4F144CBAB695}"/>
                </a:ext>
              </a:extLst>
            </p:cNvPr>
            <p:cNvSpPr/>
            <p:nvPr/>
          </p:nvSpPr>
          <p:spPr>
            <a:xfrm>
              <a:off x="2444583" y="6222971"/>
              <a:ext cx="678762" cy="601883"/>
            </a:xfrm>
            <a:prstGeom prst="rect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</a:ln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3">
              <a:schemeClr val="lt1"/>
            </a:lnRef>
            <a:fillRef idx="1">
              <a:schemeClr val="accent2"/>
            </a:fillRef>
            <a:effectRef idx="1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Modern No. 20" panose="02070704070505020303" pitchFamily="18" charset="77"/>
                </a:rPr>
                <a:t>Split</a:t>
              </a: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103FE0D4-F03B-04E3-7BAF-C8E49650A04A}"/>
                </a:ext>
              </a:extLst>
            </p:cNvPr>
            <p:cNvSpPr/>
            <p:nvPr/>
          </p:nvSpPr>
          <p:spPr>
            <a:xfrm>
              <a:off x="3355209" y="6222971"/>
              <a:ext cx="886382" cy="601883"/>
            </a:xfrm>
            <a:prstGeom prst="rect">
              <a:avLst/>
            </a:prstGeom>
            <a:ln w="9525">
              <a:solidFill>
                <a:schemeClr val="tx1"/>
              </a:solidFill>
            </a:ln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3">
              <a:schemeClr val="lt1"/>
            </a:lnRef>
            <a:fillRef idx="1">
              <a:schemeClr val="accent5"/>
            </a:fillRef>
            <a:effectRef idx="1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Modern No. 20" panose="02070704070505020303" pitchFamily="18" charset="77"/>
                </a:rPr>
                <a:t>Impute</a:t>
              </a:r>
            </a:p>
          </p:txBody>
        </p:sp>
        <p:sp>
          <p:nvSpPr>
            <p:cNvPr id="22" name="Right Arrow 21">
              <a:extLst>
                <a:ext uri="{FF2B5EF4-FFF2-40B4-BE49-F238E27FC236}">
                  <a16:creationId xmlns:a16="http://schemas.microsoft.com/office/drawing/2014/main" id="{57F7326B-1492-C626-4A06-277FFA3015B0}"/>
                </a:ext>
              </a:extLst>
            </p:cNvPr>
            <p:cNvSpPr/>
            <p:nvPr/>
          </p:nvSpPr>
          <p:spPr>
            <a:xfrm rot="5400000">
              <a:off x="8229707" y="5225839"/>
              <a:ext cx="201021" cy="107992"/>
            </a:xfrm>
            <a:prstGeom prst="rightArrow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4" name="Right Arrow 23">
              <a:extLst>
                <a:ext uri="{FF2B5EF4-FFF2-40B4-BE49-F238E27FC236}">
                  <a16:creationId xmlns:a16="http://schemas.microsoft.com/office/drawing/2014/main" id="{01A552C4-11C1-C6D1-7BEC-4343962CAF3C}"/>
                </a:ext>
              </a:extLst>
            </p:cNvPr>
            <p:cNvSpPr/>
            <p:nvPr/>
          </p:nvSpPr>
          <p:spPr>
            <a:xfrm rot="10800000">
              <a:off x="7440888" y="5649078"/>
              <a:ext cx="201021" cy="107992"/>
            </a:xfrm>
            <a:prstGeom prst="rightArrow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C635E028-E91F-E003-0CBC-F5915DA665C0}"/>
                </a:ext>
              </a:extLst>
            </p:cNvPr>
            <p:cNvSpPr/>
            <p:nvPr/>
          </p:nvSpPr>
          <p:spPr>
            <a:xfrm>
              <a:off x="1976611" y="7094202"/>
              <a:ext cx="502256" cy="199821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tx1"/>
              </a:solidFill>
            </a:ln>
          </p:spPr>
          <p:style>
            <a:lnRef idx="0">
              <a:schemeClr val="accent6"/>
            </a:lnRef>
            <a:fillRef idx="3">
              <a:schemeClr val="accent6"/>
            </a:fillRef>
            <a:effectRef idx="3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Modern No. 20" panose="02070704070505020303" pitchFamily="18" charset="77"/>
              </a:endParaRPr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841AC02D-5CF9-5809-2758-0DC6EB012667}"/>
                </a:ext>
              </a:extLst>
            </p:cNvPr>
            <p:cNvSpPr/>
            <p:nvPr/>
          </p:nvSpPr>
          <p:spPr>
            <a:xfrm>
              <a:off x="1976610" y="7349013"/>
              <a:ext cx="502257" cy="199821"/>
            </a:xfrm>
            <a:prstGeom prst="rect">
              <a:avLst/>
            </a:prstGeom>
            <a:ln w="9525">
              <a:solidFill>
                <a:schemeClr val="tx1"/>
              </a:solidFill>
            </a:ln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3">
              <a:schemeClr val="lt1"/>
            </a:lnRef>
            <a:fillRef idx="1">
              <a:schemeClr val="accent2"/>
            </a:fillRef>
            <a:effectRef idx="1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Modern No. 20" panose="02070704070505020303" pitchFamily="18" charset="77"/>
              </a:endParaRPr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082C0DED-F960-FCAB-9ECF-8B8276DFDE2D}"/>
                </a:ext>
              </a:extLst>
            </p:cNvPr>
            <p:cNvSpPr/>
            <p:nvPr/>
          </p:nvSpPr>
          <p:spPr>
            <a:xfrm>
              <a:off x="4140026" y="7094202"/>
              <a:ext cx="502256" cy="199821"/>
            </a:xfrm>
            <a:prstGeom prst="rect">
              <a:avLst/>
            </a:prstGeom>
            <a:ln w="9525">
              <a:solidFill>
                <a:schemeClr val="tx1"/>
              </a:solidFill>
            </a:ln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3">
              <a:schemeClr val="lt1"/>
            </a:lnRef>
            <a:fillRef idx="1">
              <a:schemeClr val="accent5"/>
            </a:fillRef>
            <a:effectRef idx="1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Modern No. 20" panose="02070704070505020303" pitchFamily="18" charset="77"/>
              </a:endParaRPr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109C8E18-356E-C7F8-5C4D-B49F04E320F9}"/>
                </a:ext>
              </a:extLst>
            </p:cNvPr>
            <p:cNvSpPr/>
            <p:nvPr/>
          </p:nvSpPr>
          <p:spPr>
            <a:xfrm>
              <a:off x="4140025" y="7349013"/>
              <a:ext cx="502258" cy="199821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0">
              <a:schemeClr val="accent4"/>
            </a:lnRef>
            <a:fillRef idx="3">
              <a:schemeClr val="accent4"/>
            </a:fillRef>
            <a:effectRef idx="3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Modern No. 20" panose="02070704070505020303" pitchFamily="18" charset="77"/>
              </a:endParaRP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C3308D90-37D9-8CE3-63E1-18C82C0AF46E}"/>
                </a:ext>
              </a:extLst>
            </p:cNvPr>
            <p:cNvSpPr txBox="1"/>
            <p:nvPr/>
          </p:nvSpPr>
          <p:spPr>
            <a:xfrm>
              <a:off x="2460178" y="7040224"/>
              <a:ext cx="1303562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latin typeface="Modern No. 20" panose="02070704070505020303" pitchFamily="18" charset="77"/>
                </a:rPr>
                <a:t>Removing Data</a:t>
              </a: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3B49EBBB-0D79-7709-9FAC-2E41BE9EADA9}"/>
                </a:ext>
              </a:extLst>
            </p:cNvPr>
            <p:cNvSpPr txBox="1"/>
            <p:nvPr/>
          </p:nvSpPr>
          <p:spPr>
            <a:xfrm>
              <a:off x="2466091" y="7295035"/>
              <a:ext cx="171393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latin typeface="Modern No. 20" panose="02070704070505020303" pitchFamily="18" charset="77"/>
                </a:rPr>
                <a:t>Rearranging in Time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B9C90A28-1771-647C-D83D-BE8D3A201966}"/>
                </a:ext>
              </a:extLst>
            </p:cNvPr>
            <p:cNvSpPr txBox="1"/>
            <p:nvPr/>
          </p:nvSpPr>
          <p:spPr>
            <a:xfrm>
              <a:off x="4642281" y="7040224"/>
              <a:ext cx="109677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latin typeface="Modern No. 20" panose="02070704070505020303" pitchFamily="18" charset="77"/>
                </a:rPr>
                <a:t>Filling Data</a:t>
              </a: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14FA03F5-5821-0A24-1630-CD53670E2858}"/>
                </a:ext>
              </a:extLst>
            </p:cNvPr>
            <p:cNvSpPr txBox="1"/>
            <p:nvPr/>
          </p:nvSpPr>
          <p:spPr>
            <a:xfrm>
              <a:off x="4642280" y="7295035"/>
              <a:ext cx="126989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latin typeface="Modern No. 20" panose="02070704070505020303" pitchFamily="18" charset="77"/>
                </a:rPr>
                <a:t>Changing Data</a:t>
              </a:r>
            </a:p>
          </p:txBody>
        </p:sp>
        <p:sp>
          <p:nvSpPr>
            <p:cNvPr id="39" name="Parallelogram 38">
              <a:extLst>
                <a:ext uri="{FF2B5EF4-FFF2-40B4-BE49-F238E27FC236}">
                  <a16:creationId xmlns:a16="http://schemas.microsoft.com/office/drawing/2014/main" id="{53EB4C7A-8C88-1682-C667-1AEACD6F74DD}"/>
                </a:ext>
              </a:extLst>
            </p:cNvPr>
            <p:cNvSpPr/>
            <p:nvPr/>
          </p:nvSpPr>
          <p:spPr>
            <a:xfrm>
              <a:off x="6180806" y="6248552"/>
              <a:ext cx="2829770" cy="567159"/>
            </a:xfrm>
            <a:prstGeom prst="parallelogram">
              <a:avLst/>
            </a:prstGeom>
            <a:ln w="9525">
              <a:solidFill>
                <a:schemeClr val="tx1"/>
              </a:solidFill>
            </a:ln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Modern No. 20" panose="02070704070505020303" pitchFamily="18" charset="77"/>
                </a:rPr>
                <a:t>Filtered, Continuous Data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74037322-70D7-48D0-D0DE-2FE4126AC0BA}"/>
                </a:ext>
              </a:extLst>
            </p:cNvPr>
            <p:cNvSpPr/>
            <p:nvPr/>
          </p:nvSpPr>
          <p:spPr>
            <a:xfrm>
              <a:off x="7064273" y="4582432"/>
              <a:ext cx="1949291" cy="601883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tx1"/>
              </a:solidFill>
            </a:ln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0">
              <a:schemeClr val="accent6"/>
            </a:lnRef>
            <a:fillRef idx="3">
              <a:schemeClr val="accent6"/>
            </a:fillRef>
            <a:effectRef idx="3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Modern No. 20" panose="02070704070505020303" pitchFamily="18" charset="77"/>
                </a:rPr>
                <a:t>Power-Wind Mag. Window Filter</a:t>
              </a:r>
            </a:p>
          </p:txBody>
        </p:sp>
        <p:sp>
          <p:nvSpPr>
            <p:cNvPr id="17" name="Right Arrow 16">
              <a:extLst>
                <a:ext uri="{FF2B5EF4-FFF2-40B4-BE49-F238E27FC236}">
                  <a16:creationId xmlns:a16="http://schemas.microsoft.com/office/drawing/2014/main" id="{260F1507-2FEA-10CA-1310-43AEF5602BE3}"/>
                </a:ext>
              </a:extLst>
            </p:cNvPr>
            <p:cNvSpPr/>
            <p:nvPr/>
          </p:nvSpPr>
          <p:spPr>
            <a:xfrm rot="10800000">
              <a:off x="4996164" y="5641377"/>
              <a:ext cx="201021" cy="107992"/>
            </a:xfrm>
            <a:prstGeom prst="rightArrow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1" name="Right Arrow 40">
              <a:extLst>
                <a:ext uri="{FF2B5EF4-FFF2-40B4-BE49-F238E27FC236}">
                  <a16:creationId xmlns:a16="http://schemas.microsoft.com/office/drawing/2014/main" id="{C2C2BE35-5223-100E-0735-B3642E93D93E}"/>
                </a:ext>
              </a:extLst>
            </p:cNvPr>
            <p:cNvSpPr/>
            <p:nvPr/>
          </p:nvSpPr>
          <p:spPr>
            <a:xfrm>
              <a:off x="6849594" y="4828724"/>
              <a:ext cx="201021" cy="107992"/>
            </a:xfrm>
            <a:prstGeom prst="rightArrow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2" name="Right Arrow 41">
              <a:extLst>
                <a:ext uri="{FF2B5EF4-FFF2-40B4-BE49-F238E27FC236}">
                  <a16:creationId xmlns:a16="http://schemas.microsoft.com/office/drawing/2014/main" id="{61835A66-A0D1-AA89-E4DF-39FD41464ABE}"/>
                </a:ext>
              </a:extLst>
            </p:cNvPr>
            <p:cNvSpPr/>
            <p:nvPr/>
          </p:nvSpPr>
          <p:spPr>
            <a:xfrm rot="10800000">
              <a:off x="3534788" y="5635009"/>
              <a:ext cx="201021" cy="107992"/>
            </a:xfrm>
            <a:prstGeom prst="rightArrow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3" name="Right Arrow 42">
              <a:extLst>
                <a:ext uri="{FF2B5EF4-FFF2-40B4-BE49-F238E27FC236}">
                  <a16:creationId xmlns:a16="http://schemas.microsoft.com/office/drawing/2014/main" id="{EAD007AC-7608-44BB-6664-8A2C91BD517B}"/>
                </a:ext>
              </a:extLst>
            </p:cNvPr>
            <p:cNvSpPr/>
            <p:nvPr/>
          </p:nvSpPr>
          <p:spPr>
            <a:xfrm>
              <a:off x="4254537" y="6468805"/>
              <a:ext cx="201021" cy="107992"/>
            </a:xfrm>
            <a:prstGeom prst="rightArrow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4" name="Right Arrow 43">
              <a:extLst>
                <a:ext uri="{FF2B5EF4-FFF2-40B4-BE49-F238E27FC236}">
                  <a16:creationId xmlns:a16="http://schemas.microsoft.com/office/drawing/2014/main" id="{B5EA8046-3D6A-40C7-7C68-A7E22EC4124E}"/>
                </a:ext>
              </a:extLst>
            </p:cNvPr>
            <p:cNvSpPr/>
            <p:nvPr/>
          </p:nvSpPr>
          <p:spPr>
            <a:xfrm rot="5400000">
              <a:off x="2683453" y="6054870"/>
              <a:ext cx="201021" cy="107992"/>
            </a:xfrm>
            <a:prstGeom prst="rightArrow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0" name="Right Arrow 9">
              <a:extLst>
                <a:ext uri="{FF2B5EF4-FFF2-40B4-BE49-F238E27FC236}">
                  <a16:creationId xmlns:a16="http://schemas.microsoft.com/office/drawing/2014/main" id="{E75E70E0-D231-834F-C65C-9D3CD17006D1}"/>
                </a:ext>
              </a:extLst>
            </p:cNvPr>
            <p:cNvSpPr/>
            <p:nvPr/>
          </p:nvSpPr>
          <p:spPr>
            <a:xfrm>
              <a:off x="3141242" y="6469916"/>
              <a:ext cx="201021" cy="107992"/>
            </a:xfrm>
            <a:prstGeom prst="rightArrow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7" name="Parallelogram 36">
              <a:extLst>
                <a:ext uri="{FF2B5EF4-FFF2-40B4-BE49-F238E27FC236}">
                  <a16:creationId xmlns:a16="http://schemas.microsoft.com/office/drawing/2014/main" id="{679DA1A1-2A56-389D-1074-3007B72A1335}"/>
                </a:ext>
              </a:extLst>
            </p:cNvPr>
            <p:cNvSpPr/>
            <p:nvPr/>
          </p:nvSpPr>
          <p:spPr>
            <a:xfrm>
              <a:off x="6178396" y="7232140"/>
              <a:ext cx="2258568" cy="384048"/>
            </a:xfrm>
            <a:prstGeom prst="parallelogram">
              <a:avLst/>
            </a:prstGeom>
            <a:ln w="9525">
              <a:solidFill>
                <a:schemeClr val="tx1"/>
              </a:solidFill>
            </a:ln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>
                  <a:latin typeface="Modern No. 20" panose="02070704070505020303" pitchFamily="18" charset="77"/>
                </a:rPr>
                <a:t>Training</a:t>
              </a:r>
              <a:endParaRPr lang="en-US" dirty="0">
                <a:latin typeface="Modern No. 20" panose="02070704070505020303" pitchFamily="18" charset="77"/>
              </a:endParaRPr>
            </a:p>
          </p:txBody>
        </p:sp>
        <p:sp>
          <p:nvSpPr>
            <p:cNvPr id="38" name="Parallelogram 37">
              <a:extLst>
                <a:ext uri="{FF2B5EF4-FFF2-40B4-BE49-F238E27FC236}">
                  <a16:creationId xmlns:a16="http://schemas.microsoft.com/office/drawing/2014/main" id="{2AFFDC40-085D-6576-A9E5-FFC2546D13CE}"/>
                </a:ext>
              </a:extLst>
            </p:cNvPr>
            <p:cNvSpPr/>
            <p:nvPr/>
          </p:nvSpPr>
          <p:spPr>
            <a:xfrm>
              <a:off x="8404612" y="7225890"/>
              <a:ext cx="283464" cy="388962"/>
            </a:xfrm>
            <a:prstGeom prst="parallelogram">
              <a:avLst/>
            </a:prstGeom>
            <a:ln w="9525">
              <a:solidFill>
                <a:schemeClr val="tx1"/>
              </a:solidFill>
            </a:ln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>
                  <a:latin typeface="Modern No. 20" panose="02070704070505020303" pitchFamily="18" charset="77"/>
                </a:rPr>
                <a:t>V</a:t>
              </a:r>
              <a:endParaRPr lang="en-US" dirty="0">
                <a:latin typeface="Modern No. 20" panose="02070704070505020303" pitchFamily="18" charset="77"/>
              </a:endParaRPr>
            </a:p>
          </p:txBody>
        </p:sp>
        <p:sp>
          <p:nvSpPr>
            <p:cNvPr id="40" name="Parallelogram 39">
              <a:extLst>
                <a:ext uri="{FF2B5EF4-FFF2-40B4-BE49-F238E27FC236}">
                  <a16:creationId xmlns:a16="http://schemas.microsoft.com/office/drawing/2014/main" id="{6F9E6FD2-60E3-5653-90B5-75AE7967BBF5}"/>
                </a:ext>
              </a:extLst>
            </p:cNvPr>
            <p:cNvSpPr/>
            <p:nvPr/>
          </p:nvSpPr>
          <p:spPr>
            <a:xfrm>
              <a:off x="8658860" y="7232140"/>
              <a:ext cx="283464" cy="380491"/>
            </a:xfrm>
            <a:prstGeom prst="parallelogram">
              <a:avLst/>
            </a:prstGeom>
            <a:ln w="9525">
              <a:solidFill>
                <a:schemeClr val="tx1"/>
              </a:solidFill>
            </a:ln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>
                  <a:latin typeface="Modern No. 20" panose="02070704070505020303" pitchFamily="18" charset="77"/>
                </a:rPr>
                <a:t>T</a:t>
              </a:r>
              <a:endParaRPr lang="en-US" dirty="0">
                <a:latin typeface="Modern No. 20" panose="02070704070505020303" pitchFamily="18" charset="77"/>
              </a:endParaRPr>
            </a:p>
          </p:txBody>
        </p:sp>
        <p:sp>
          <p:nvSpPr>
            <p:cNvPr id="25" name="Right Arrow 24">
              <a:extLst>
                <a:ext uri="{FF2B5EF4-FFF2-40B4-BE49-F238E27FC236}">
                  <a16:creationId xmlns:a16="http://schemas.microsoft.com/office/drawing/2014/main" id="{9EFB3E00-75E1-2827-6DF7-A80496959A81}"/>
                </a:ext>
              </a:extLst>
            </p:cNvPr>
            <p:cNvSpPr/>
            <p:nvPr/>
          </p:nvSpPr>
          <p:spPr>
            <a:xfrm>
              <a:off x="6040351" y="6468805"/>
              <a:ext cx="201021" cy="107992"/>
            </a:xfrm>
            <a:prstGeom prst="rightArrow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13382893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20E498-BC00-8D85-72B4-FFBD2E381A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6C34AB0F-5A37-1725-FD78-E5EC1651DE7F}"/>
              </a:ext>
            </a:extLst>
          </p:cNvPr>
          <p:cNvSpPr txBox="1"/>
          <p:nvPr/>
        </p:nvSpPr>
        <p:spPr>
          <a:xfrm>
            <a:off x="5470521" y="2785155"/>
            <a:ext cx="327070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Green – removing data</a:t>
            </a:r>
          </a:p>
          <a:p>
            <a:r>
              <a:rPr lang="en-US" dirty="0"/>
              <a:t>Purple – filling data</a:t>
            </a:r>
          </a:p>
          <a:p>
            <a:r>
              <a:rPr lang="en-US" dirty="0"/>
              <a:t>Blue – changing data</a:t>
            </a:r>
          </a:p>
          <a:p>
            <a:r>
              <a:rPr lang="en-US" dirty="0"/>
              <a:t>Orange – rearranging in time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AEED2F-BF91-7AFC-FA60-770843A559F5}"/>
              </a:ext>
            </a:extLst>
          </p:cNvPr>
          <p:cNvSpPr txBox="1"/>
          <p:nvPr/>
        </p:nvSpPr>
        <p:spPr>
          <a:xfrm>
            <a:off x="4058848" y="3905309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Power-Wind Speed Window Filter</a:t>
            </a: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7C1905AC-2ACF-F7DB-CD6A-14B979807B22}"/>
              </a:ext>
            </a:extLst>
          </p:cNvPr>
          <p:cNvGrpSpPr/>
          <p:nvPr/>
        </p:nvGrpSpPr>
        <p:grpSpPr>
          <a:xfrm>
            <a:off x="1623366" y="4577441"/>
            <a:ext cx="7760477" cy="3146886"/>
            <a:chOff x="1623366" y="4577441"/>
            <a:chExt cx="7760477" cy="3146886"/>
          </a:xfrm>
        </p:grpSpPr>
        <p:sp>
          <p:nvSpPr>
            <p:cNvPr id="21" name="Right Arrow 20">
              <a:extLst>
                <a:ext uri="{FF2B5EF4-FFF2-40B4-BE49-F238E27FC236}">
                  <a16:creationId xmlns:a16="http://schemas.microsoft.com/office/drawing/2014/main" id="{0793685F-73CA-B9B8-9409-3C257F7FC8CE}"/>
                </a:ext>
              </a:extLst>
            </p:cNvPr>
            <p:cNvSpPr/>
            <p:nvPr/>
          </p:nvSpPr>
          <p:spPr>
            <a:xfrm>
              <a:off x="5163308" y="4832973"/>
              <a:ext cx="201021" cy="107992"/>
            </a:xfrm>
            <a:prstGeom prst="rightArrow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0" name="Right Arrow 19">
              <a:extLst>
                <a:ext uri="{FF2B5EF4-FFF2-40B4-BE49-F238E27FC236}">
                  <a16:creationId xmlns:a16="http://schemas.microsoft.com/office/drawing/2014/main" id="{30B6EAA5-E66F-726D-6D90-C798FE0FF581}"/>
                </a:ext>
              </a:extLst>
            </p:cNvPr>
            <p:cNvSpPr/>
            <p:nvPr/>
          </p:nvSpPr>
          <p:spPr>
            <a:xfrm>
              <a:off x="3992661" y="4822992"/>
              <a:ext cx="201021" cy="107992"/>
            </a:xfrm>
            <a:prstGeom prst="rightArrow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9" name="Right Arrow 18">
              <a:extLst>
                <a:ext uri="{FF2B5EF4-FFF2-40B4-BE49-F238E27FC236}">
                  <a16:creationId xmlns:a16="http://schemas.microsoft.com/office/drawing/2014/main" id="{582EE216-CC89-EF82-F6FA-23B26708FC7B}"/>
                </a:ext>
              </a:extLst>
            </p:cNvPr>
            <p:cNvSpPr/>
            <p:nvPr/>
          </p:nvSpPr>
          <p:spPr>
            <a:xfrm>
              <a:off x="2738487" y="4839680"/>
              <a:ext cx="201021" cy="107992"/>
            </a:xfrm>
            <a:prstGeom prst="rightArrow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" name="Parallelogram 3">
              <a:extLst>
                <a:ext uri="{FF2B5EF4-FFF2-40B4-BE49-F238E27FC236}">
                  <a16:creationId xmlns:a16="http://schemas.microsoft.com/office/drawing/2014/main" id="{11C21EE0-66E3-2B57-67BB-FDDD44FFF1A4}"/>
                </a:ext>
              </a:extLst>
            </p:cNvPr>
            <p:cNvSpPr/>
            <p:nvPr/>
          </p:nvSpPr>
          <p:spPr>
            <a:xfrm>
              <a:off x="1623366" y="4593409"/>
              <a:ext cx="1226561" cy="567159"/>
            </a:xfrm>
            <a:prstGeom prst="parallelogram">
              <a:avLst/>
            </a:prstGeom>
            <a:ln w="9525">
              <a:solidFill>
                <a:schemeClr val="tx1"/>
              </a:solidFill>
            </a:ln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Raw Data</a:t>
              </a: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94F34D84-6850-5342-5065-A9370F1AACA4}"/>
                </a:ext>
              </a:extLst>
            </p:cNvPr>
            <p:cNvSpPr/>
            <p:nvPr/>
          </p:nvSpPr>
          <p:spPr>
            <a:xfrm>
              <a:off x="2950439" y="4592735"/>
              <a:ext cx="1090087" cy="601883"/>
            </a:xfrm>
            <a:prstGeom prst="rect">
              <a:avLst/>
            </a:prstGeom>
            <a:ln w="9525">
              <a:solidFill>
                <a:schemeClr val="tx1"/>
              </a:solidFill>
            </a:ln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3">
              <a:schemeClr val="lt1"/>
            </a:lnRef>
            <a:fillRef idx="1">
              <a:schemeClr val="accent2"/>
            </a:fillRef>
            <a:effectRef idx="1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Modern No. 20" panose="02070704070505020303" pitchFamily="18" charset="77"/>
              </a:endParaRP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F20A033C-7276-C2AD-D33E-2C64C4FDCF10}"/>
                </a:ext>
              </a:extLst>
            </p:cNvPr>
            <p:cNvSpPr/>
            <p:nvPr/>
          </p:nvSpPr>
          <p:spPr>
            <a:xfrm>
              <a:off x="4214205" y="4577441"/>
              <a:ext cx="979716" cy="601883"/>
            </a:xfrm>
            <a:prstGeom prst="rect">
              <a:avLst/>
            </a:prstGeom>
            <a:ln w="9525">
              <a:solidFill>
                <a:schemeClr val="tx1"/>
              </a:solidFill>
            </a:ln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3">
              <a:schemeClr val="lt1"/>
            </a:lnRef>
            <a:fillRef idx="1">
              <a:schemeClr val="accent5"/>
            </a:fillRef>
            <a:effectRef idx="1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Modern No. 20" panose="02070704070505020303" pitchFamily="18" charset="77"/>
              </a:endParaRP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83685401-711E-02EE-9B05-3D436B470910}"/>
                </a:ext>
              </a:extLst>
            </p:cNvPr>
            <p:cNvSpPr/>
            <p:nvPr/>
          </p:nvSpPr>
          <p:spPr>
            <a:xfrm>
              <a:off x="5367599" y="4580050"/>
              <a:ext cx="1481972" cy="601883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tx1"/>
              </a:solidFill>
            </a:ln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0">
              <a:schemeClr val="accent6"/>
            </a:lnRef>
            <a:fillRef idx="3">
              <a:schemeClr val="accent6"/>
            </a:fillRef>
            <a:effectRef idx="3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Modern No. 20" panose="02070704070505020303" pitchFamily="18" charset="77"/>
              </a:endParaRP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2D1DC53E-7737-ED85-7619-2BD7C54CB9ED}"/>
                </a:ext>
              </a:extLst>
            </p:cNvPr>
            <p:cNvSpPr/>
            <p:nvPr/>
          </p:nvSpPr>
          <p:spPr>
            <a:xfrm>
              <a:off x="5212993" y="5397496"/>
              <a:ext cx="2213817" cy="601883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0">
              <a:schemeClr val="accent4"/>
            </a:lnRef>
            <a:fillRef idx="3">
              <a:schemeClr val="accent4"/>
            </a:fillRef>
            <a:effectRef idx="3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Modern No. 20" panose="02070704070505020303" pitchFamily="18" charset="77"/>
              </a:endParaRP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B17DBD6B-5443-CE60-42F0-68ACEA14032B}"/>
                </a:ext>
              </a:extLst>
            </p:cNvPr>
            <p:cNvSpPr/>
            <p:nvPr/>
          </p:nvSpPr>
          <p:spPr>
            <a:xfrm>
              <a:off x="7649860" y="5397340"/>
              <a:ext cx="1360716" cy="601883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tx1"/>
              </a:solidFill>
            </a:ln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0">
              <a:schemeClr val="accent6"/>
            </a:lnRef>
            <a:fillRef idx="3">
              <a:schemeClr val="accent6"/>
            </a:fillRef>
            <a:effectRef idx="3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Modern No. 20" panose="02070704070505020303" pitchFamily="18" charset="77"/>
              </a:endParaRP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AD3B224E-2D49-B61B-B026-AFB29C1E9B0B}"/>
                </a:ext>
              </a:extLst>
            </p:cNvPr>
            <p:cNvSpPr/>
            <p:nvPr/>
          </p:nvSpPr>
          <p:spPr>
            <a:xfrm>
              <a:off x="3745413" y="5394041"/>
              <a:ext cx="1240971" cy="601883"/>
            </a:xfrm>
            <a:prstGeom prst="rect">
              <a:avLst/>
            </a:prstGeom>
            <a:solidFill>
              <a:srgbClr val="00B0F0"/>
            </a:solidFill>
            <a:ln w="9525"/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Modern No. 20" panose="02070704070505020303" pitchFamily="18" charset="77"/>
              </a:endParaRP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51FBEE1A-7570-F03D-FA99-88CD289409D4}"/>
                </a:ext>
              </a:extLst>
            </p:cNvPr>
            <p:cNvSpPr/>
            <p:nvPr/>
          </p:nvSpPr>
          <p:spPr>
            <a:xfrm>
              <a:off x="2433426" y="5392877"/>
              <a:ext cx="1090087" cy="601883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tx1"/>
              </a:solidFill>
            </a:ln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0">
              <a:schemeClr val="accent6"/>
            </a:lnRef>
            <a:fillRef idx="3">
              <a:schemeClr val="accent6"/>
            </a:fillRef>
            <a:effectRef idx="3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Modern No. 20" panose="02070704070505020303" pitchFamily="18" charset="77"/>
              </a:endParaRP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FAE22545-773D-E7D4-755C-166D8F452912}"/>
                </a:ext>
              </a:extLst>
            </p:cNvPr>
            <p:cNvSpPr/>
            <p:nvPr/>
          </p:nvSpPr>
          <p:spPr>
            <a:xfrm>
              <a:off x="2444582" y="6222971"/>
              <a:ext cx="1090087" cy="601883"/>
            </a:xfrm>
            <a:prstGeom prst="rect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</a:ln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3">
              <a:schemeClr val="lt1"/>
            </a:lnRef>
            <a:fillRef idx="1">
              <a:schemeClr val="accent2"/>
            </a:fillRef>
            <a:effectRef idx="1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Modern No. 20" panose="02070704070505020303" pitchFamily="18" charset="77"/>
              </a:endParaRP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90B3A64C-BF0D-FC84-10F9-448424252275}"/>
                </a:ext>
              </a:extLst>
            </p:cNvPr>
            <p:cNvSpPr/>
            <p:nvPr/>
          </p:nvSpPr>
          <p:spPr>
            <a:xfrm>
              <a:off x="3755898" y="6222971"/>
              <a:ext cx="1090087" cy="601883"/>
            </a:xfrm>
            <a:prstGeom prst="rect">
              <a:avLst/>
            </a:prstGeom>
            <a:ln w="9525">
              <a:solidFill>
                <a:schemeClr val="tx1"/>
              </a:solidFill>
            </a:ln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3">
              <a:schemeClr val="lt1"/>
            </a:lnRef>
            <a:fillRef idx="1">
              <a:schemeClr val="accent5"/>
            </a:fillRef>
            <a:effectRef idx="1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Modern No. 20" panose="02070704070505020303" pitchFamily="18" charset="77"/>
              </a:endParaRPr>
            </a:p>
          </p:txBody>
        </p:sp>
        <p:sp>
          <p:nvSpPr>
            <p:cNvPr id="22" name="Right Arrow 21">
              <a:extLst>
                <a:ext uri="{FF2B5EF4-FFF2-40B4-BE49-F238E27FC236}">
                  <a16:creationId xmlns:a16="http://schemas.microsoft.com/office/drawing/2014/main" id="{E03FF323-B68E-00A6-443E-3FF0E5320609}"/>
                </a:ext>
              </a:extLst>
            </p:cNvPr>
            <p:cNvSpPr/>
            <p:nvPr/>
          </p:nvSpPr>
          <p:spPr>
            <a:xfrm rot="5400000">
              <a:off x="8229707" y="5225839"/>
              <a:ext cx="201021" cy="107992"/>
            </a:xfrm>
            <a:prstGeom prst="rightArrow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4" name="Right Arrow 23">
              <a:extLst>
                <a:ext uri="{FF2B5EF4-FFF2-40B4-BE49-F238E27FC236}">
                  <a16:creationId xmlns:a16="http://schemas.microsoft.com/office/drawing/2014/main" id="{246D6ECF-7F6E-5472-2A0D-EF8F570BD217}"/>
                </a:ext>
              </a:extLst>
            </p:cNvPr>
            <p:cNvSpPr/>
            <p:nvPr/>
          </p:nvSpPr>
          <p:spPr>
            <a:xfrm rot="10800000">
              <a:off x="7440888" y="5649078"/>
              <a:ext cx="201021" cy="107992"/>
            </a:xfrm>
            <a:prstGeom prst="rightArrow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6" name="Right Arrow 25">
              <a:extLst>
                <a:ext uri="{FF2B5EF4-FFF2-40B4-BE49-F238E27FC236}">
                  <a16:creationId xmlns:a16="http://schemas.microsoft.com/office/drawing/2014/main" id="{74E4722F-4197-E0DA-3CBE-59E6ABE9D0D9}"/>
                </a:ext>
              </a:extLst>
            </p:cNvPr>
            <p:cNvSpPr/>
            <p:nvPr/>
          </p:nvSpPr>
          <p:spPr>
            <a:xfrm>
              <a:off x="6648950" y="6471175"/>
              <a:ext cx="201021" cy="105475"/>
            </a:xfrm>
            <a:prstGeom prst="rightArrow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C6BDF5B9-7FAF-601C-03A9-9E4F82AFA8DB}"/>
                </a:ext>
              </a:extLst>
            </p:cNvPr>
            <p:cNvSpPr/>
            <p:nvPr/>
          </p:nvSpPr>
          <p:spPr>
            <a:xfrm>
              <a:off x="1646828" y="7094202"/>
              <a:ext cx="502256" cy="199821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tx1"/>
              </a:solidFill>
            </a:ln>
          </p:spPr>
          <p:style>
            <a:lnRef idx="0">
              <a:schemeClr val="accent6"/>
            </a:lnRef>
            <a:fillRef idx="3">
              <a:schemeClr val="accent6"/>
            </a:fillRef>
            <a:effectRef idx="3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Modern No. 20" panose="02070704070505020303" pitchFamily="18" charset="77"/>
              </a:endParaRPr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7FB826A1-A819-D4E0-CEBB-5879584912C4}"/>
                </a:ext>
              </a:extLst>
            </p:cNvPr>
            <p:cNvSpPr/>
            <p:nvPr/>
          </p:nvSpPr>
          <p:spPr>
            <a:xfrm>
              <a:off x="1646827" y="7408973"/>
              <a:ext cx="502257" cy="199821"/>
            </a:xfrm>
            <a:prstGeom prst="rect">
              <a:avLst/>
            </a:prstGeom>
            <a:ln w="9525">
              <a:solidFill>
                <a:schemeClr val="tx1"/>
              </a:solidFill>
            </a:ln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3">
              <a:schemeClr val="lt1"/>
            </a:lnRef>
            <a:fillRef idx="1">
              <a:schemeClr val="accent2"/>
            </a:fillRef>
            <a:effectRef idx="1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Modern No. 20" panose="02070704070505020303" pitchFamily="18" charset="77"/>
              </a:endParaRPr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2DC9611F-AEED-F121-266F-E9549E0553F3}"/>
                </a:ext>
              </a:extLst>
            </p:cNvPr>
            <p:cNvSpPr/>
            <p:nvPr/>
          </p:nvSpPr>
          <p:spPr>
            <a:xfrm>
              <a:off x="4304916" y="7094202"/>
              <a:ext cx="502256" cy="199821"/>
            </a:xfrm>
            <a:prstGeom prst="rect">
              <a:avLst/>
            </a:prstGeom>
            <a:ln w="9525">
              <a:solidFill>
                <a:schemeClr val="tx1"/>
              </a:solidFill>
            </a:ln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3">
              <a:schemeClr val="lt1"/>
            </a:lnRef>
            <a:fillRef idx="1">
              <a:schemeClr val="accent5"/>
            </a:fillRef>
            <a:effectRef idx="1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Modern No. 20" panose="02070704070505020303" pitchFamily="18" charset="77"/>
              </a:endParaRPr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F28C8944-BC84-4228-5043-7EB15AC260CF}"/>
                </a:ext>
              </a:extLst>
            </p:cNvPr>
            <p:cNvSpPr/>
            <p:nvPr/>
          </p:nvSpPr>
          <p:spPr>
            <a:xfrm>
              <a:off x="4304915" y="7408973"/>
              <a:ext cx="502258" cy="199821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0">
              <a:schemeClr val="accent4"/>
            </a:lnRef>
            <a:fillRef idx="3">
              <a:schemeClr val="accent4"/>
            </a:fillRef>
            <a:effectRef idx="3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Modern No. 20" panose="02070704070505020303" pitchFamily="18" charset="77"/>
              </a:endParaRP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6D1EB3FC-BB45-E9F5-D2E3-DE16D562E786}"/>
                </a:ext>
              </a:extLst>
            </p:cNvPr>
            <p:cNvSpPr txBox="1"/>
            <p:nvPr/>
          </p:nvSpPr>
          <p:spPr>
            <a:xfrm>
              <a:off x="2130395" y="7040224"/>
              <a:ext cx="168924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Removing Data</a:t>
              </a: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34D9D507-3241-4E9F-D571-768FD83AC0B2}"/>
                </a:ext>
              </a:extLst>
            </p:cNvPr>
            <p:cNvSpPr txBox="1"/>
            <p:nvPr/>
          </p:nvSpPr>
          <p:spPr>
            <a:xfrm>
              <a:off x="2136308" y="7354995"/>
              <a:ext cx="213026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Rearranging in Time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4A96CECE-B5CC-BA3B-242E-F9BA21D40E9A}"/>
                </a:ext>
              </a:extLst>
            </p:cNvPr>
            <p:cNvSpPr txBox="1"/>
            <p:nvPr/>
          </p:nvSpPr>
          <p:spPr>
            <a:xfrm>
              <a:off x="4807171" y="7040224"/>
              <a:ext cx="129368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Filling Data</a:t>
              </a: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D82419B3-4553-26CB-5AD9-BCDA9C5FB3B9}"/>
                </a:ext>
              </a:extLst>
            </p:cNvPr>
            <p:cNvSpPr txBox="1"/>
            <p:nvPr/>
          </p:nvSpPr>
          <p:spPr>
            <a:xfrm>
              <a:off x="4807170" y="7354995"/>
              <a:ext cx="165141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Changing Data</a:t>
              </a:r>
            </a:p>
          </p:txBody>
        </p:sp>
        <p:sp>
          <p:nvSpPr>
            <p:cNvPr id="39" name="Parallelogram 38">
              <a:extLst>
                <a:ext uri="{FF2B5EF4-FFF2-40B4-BE49-F238E27FC236}">
                  <a16:creationId xmlns:a16="http://schemas.microsoft.com/office/drawing/2014/main" id="{F7500F25-9B9A-1F2A-3463-CB8A33953233}"/>
                </a:ext>
              </a:extLst>
            </p:cNvPr>
            <p:cNvSpPr/>
            <p:nvPr/>
          </p:nvSpPr>
          <p:spPr>
            <a:xfrm>
              <a:off x="6791314" y="6240333"/>
              <a:ext cx="2592529" cy="567159"/>
            </a:xfrm>
            <a:prstGeom prst="parallelogram">
              <a:avLst/>
            </a:prstGeom>
            <a:ln w="9525">
              <a:solidFill>
                <a:schemeClr val="tx1"/>
              </a:solidFill>
            </a:ln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Filtered, Continuous Data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4BD42F28-879F-4FDA-1A38-04AFC68C4BCD}"/>
                </a:ext>
              </a:extLst>
            </p:cNvPr>
            <p:cNvSpPr/>
            <p:nvPr/>
          </p:nvSpPr>
          <p:spPr>
            <a:xfrm>
              <a:off x="7064273" y="4582432"/>
              <a:ext cx="1949291" cy="601883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tx1"/>
              </a:solidFill>
            </a:ln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0">
              <a:schemeClr val="accent6"/>
            </a:lnRef>
            <a:fillRef idx="3">
              <a:schemeClr val="accent6"/>
            </a:fillRef>
            <a:effectRef idx="3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Modern No. 20" panose="02070704070505020303" pitchFamily="18" charset="77"/>
              </a:endParaRPr>
            </a:p>
          </p:txBody>
        </p:sp>
        <p:sp>
          <p:nvSpPr>
            <p:cNvPr id="17" name="Right Arrow 16">
              <a:extLst>
                <a:ext uri="{FF2B5EF4-FFF2-40B4-BE49-F238E27FC236}">
                  <a16:creationId xmlns:a16="http://schemas.microsoft.com/office/drawing/2014/main" id="{7C7347B2-AA2C-E17F-B15B-B91F811C7E1D}"/>
                </a:ext>
              </a:extLst>
            </p:cNvPr>
            <p:cNvSpPr/>
            <p:nvPr/>
          </p:nvSpPr>
          <p:spPr>
            <a:xfrm rot="10800000">
              <a:off x="4996164" y="5641377"/>
              <a:ext cx="201021" cy="107992"/>
            </a:xfrm>
            <a:prstGeom prst="rightArrow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4BA0F650-B15D-5166-ABBA-ADFB2D6F22D6}"/>
                </a:ext>
              </a:extLst>
            </p:cNvPr>
            <p:cNvSpPr/>
            <p:nvPr/>
          </p:nvSpPr>
          <p:spPr>
            <a:xfrm>
              <a:off x="5076686" y="6222971"/>
              <a:ext cx="1561651" cy="601883"/>
            </a:xfrm>
            <a:prstGeom prst="rect">
              <a:avLst/>
            </a:prstGeom>
            <a:solidFill>
              <a:srgbClr val="00B0F0"/>
            </a:solidFill>
            <a:ln w="9525"/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Modern No. 20" panose="02070704070505020303" pitchFamily="18" charset="77"/>
              </a:endParaRPr>
            </a:p>
          </p:txBody>
        </p:sp>
        <p:sp>
          <p:nvSpPr>
            <p:cNvPr id="41" name="Right Arrow 40">
              <a:extLst>
                <a:ext uri="{FF2B5EF4-FFF2-40B4-BE49-F238E27FC236}">
                  <a16:creationId xmlns:a16="http://schemas.microsoft.com/office/drawing/2014/main" id="{24944436-312A-C806-9338-A09D85F5AAE0}"/>
                </a:ext>
              </a:extLst>
            </p:cNvPr>
            <p:cNvSpPr/>
            <p:nvPr/>
          </p:nvSpPr>
          <p:spPr>
            <a:xfrm>
              <a:off x="6849594" y="4828724"/>
              <a:ext cx="201021" cy="107992"/>
            </a:xfrm>
            <a:prstGeom prst="rightArrow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2" name="Right Arrow 41">
              <a:extLst>
                <a:ext uri="{FF2B5EF4-FFF2-40B4-BE49-F238E27FC236}">
                  <a16:creationId xmlns:a16="http://schemas.microsoft.com/office/drawing/2014/main" id="{829E482C-1204-BE34-2882-C15D118DE23E}"/>
                </a:ext>
              </a:extLst>
            </p:cNvPr>
            <p:cNvSpPr/>
            <p:nvPr/>
          </p:nvSpPr>
          <p:spPr>
            <a:xfrm rot="10800000">
              <a:off x="3534788" y="5635009"/>
              <a:ext cx="201021" cy="107992"/>
            </a:xfrm>
            <a:prstGeom prst="rightArrow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3" name="Right Arrow 42">
              <a:extLst>
                <a:ext uri="{FF2B5EF4-FFF2-40B4-BE49-F238E27FC236}">
                  <a16:creationId xmlns:a16="http://schemas.microsoft.com/office/drawing/2014/main" id="{5466A913-4448-2403-D806-56C75921C83B}"/>
                </a:ext>
              </a:extLst>
            </p:cNvPr>
            <p:cNvSpPr/>
            <p:nvPr/>
          </p:nvSpPr>
          <p:spPr>
            <a:xfrm>
              <a:off x="4852874" y="6469916"/>
              <a:ext cx="201021" cy="107992"/>
            </a:xfrm>
            <a:prstGeom prst="rightArrow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4" name="Right Arrow 43">
              <a:extLst>
                <a:ext uri="{FF2B5EF4-FFF2-40B4-BE49-F238E27FC236}">
                  <a16:creationId xmlns:a16="http://schemas.microsoft.com/office/drawing/2014/main" id="{39AB0572-05D0-5B87-E9C6-A00314A7DA6A}"/>
                </a:ext>
              </a:extLst>
            </p:cNvPr>
            <p:cNvSpPr/>
            <p:nvPr/>
          </p:nvSpPr>
          <p:spPr>
            <a:xfrm rot="5400000">
              <a:off x="2877958" y="6054116"/>
              <a:ext cx="201021" cy="107992"/>
            </a:xfrm>
            <a:prstGeom prst="rightArrow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0" name="Right Arrow 9">
              <a:extLst>
                <a:ext uri="{FF2B5EF4-FFF2-40B4-BE49-F238E27FC236}">
                  <a16:creationId xmlns:a16="http://schemas.microsoft.com/office/drawing/2014/main" id="{0130188D-1F6F-0506-F6F2-67A8AA743E99}"/>
                </a:ext>
              </a:extLst>
            </p:cNvPr>
            <p:cNvSpPr/>
            <p:nvPr/>
          </p:nvSpPr>
          <p:spPr>
            <a:xfrm>
              <a:off x="3541932" y="6469916"/>
              <a:ext cx="201021" cy="107992"/>
            </a:xfrm>
            <a:prstGeom prst="rightArrow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12555078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TextBox 139">
            <a:extLst>
              <a:ext uri="{FF2B5EF4-FFF2-40B4-BE49-F238E27FC236}">
                <a16:creationId xmlns:a16="http://schemas.microsoft.com/office/drawing/2014/main" id="{C1C7C05E-6027-DEAD-3FD8-4C7D7957E692}"/>
              </a:ext>
            </a:extLst>
          </p:cNvPr>
          <p:cNvSpPr txBox="1"/>
          <p:nvPr/>
        </p:nvSpPr>
        <p:spPr>
          <a:xfrm>
            <a:off x="9242909" y="5468618"/>
            <a:ext cx="1978227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TODO check that this holds for informer, </a:t>
            </a:r>
            <a:r>
              <a:rPr lang="en-US" dirty="0" err="1"/>
              <a:t>autoformer</a:t>
            </a:r>
            <a:r>
              <a:rPr lang="en-US" dirty="0"/>
              <a:t>, </a:t>
            </a:r>
            <a:r>
              <a:rPr lang="en-US" dirty="0" err="1"/>
              <a:t>spacetimeformer</a:t>
            </a:r>
            <a:endParaRPr lang="en-US" dirty="0"/>
          </a:p>
        </p:txBody>
      </p:sp>
      <p:grpSp>
        <p:nvGrpSpPr>
          <p:cNvPr id="35" name="Group 34">
            <a:extLst>
              <a:ext uri="{FF2B5EF4-FFF2-40B4-BE49-F238E27FC236}">
                <a16:creationId xmlns:a16="http://schemas.microsoft.com/office/drawing/2014/main" id="{CC9D99D0-3E04-E878-4A25-9A00F489C51A}"/>
              </a:ext>
            </a:extLst>
          </p:cNvPr>
          <p:cNvGrpSpPr/>
          <p:nvPr/>
        </p:nvGrpSpPr>
        <p:grpSpPr>
          <a:xfrm>
            <a:off x="548640" y="36762"/>
            <a:ext cx="7391034" cy="12080377"/>
            <a:chOff x="548640" y="36762"/>
            <a:chExt cx="7391034" cy="12080377"/>
          </a:xfrm>
        </p:grpSpPr>
        <p:sp>
          <p:nvSpPr>
            <p:cNvPr id="193" name="Rounded Rectangle 192">
              <a:extLst>
                <a:ext uri="{FF2B5EF4-FFF2-40B4-BE49-F238E27FC236}">
                  <a16:creationId xmlns:a16="http://schemas.microsoft.com/office/drawing/2014/main" id="{D5E4EEE4-1748-EFAD-1713-9CFBBE5FBEB5}"/>
                </a:ext>
              </a:extLst>
            </p:cNvPr>
            <p:cNvSpPr/>
            <p:nvPr/>
          </p:nvSpPr>
          <p:spPr>
            <a:xfrm>
              <a:off x="548640" y="4575706"/>
              <a:ext cx="2599578" cy="4208196"/>
            </a:xfrm>
            <a:prstGeom prst="roundRect">
              <a:avLst/>
            </a:prstGeom>
            <a:noFill/>
            <a:ln w="38100">
              <a:solidFill>
                <a:schemeClr val="accent1">
                  <a:shade val="15000"/>
                  <a:alpha val="24737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2" name="Rounded Rectangle 191">
              <a:extLst>
                <a:ext uri="{FF2B5EF4-FFF2-40B4-BE49-F238E27FC236}">
                  <a16:creationId xmlns:a16="http://schemas.microsoft.com/office/drawing/2014/main" id="{9B7ECBC7-BA04-83BA-066A-8500DFF9D2B0}"/>
                </a:ext>
              </a:extLst>
            </p:cNvPr>
            <p:cNvSpPr/>
            <p:nvPr/>
          </p:nvSpPr>
          <p:spPr>
            <a:xfrm>
              <a:off x="819079" y="4806337"/>
              <a:ext cx="2599578" cy="4208196"/>
            </a:xfrm>
            <a:prstGeom prst="roundRect">
              <a:avLst/>
            </a:prstGeom>
            <a:noFill/>
            <a:ln w="38100">
              <a:solidFill>
                <a:schemeClr val="accent1">
                  <a:shade val="15000"/>
                  <a:alpha val="50247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3" name="Rounded Rectangle 182">
              <a:extLst>
                <a:ext uri="{FF2B5EF4-FFF2-40B4-BE49-F238E27FC236}">
                  <a16:creationId xmlns:a16="http://schemas.microsoft.com/office/drawing/2014/main" id="{E5342654-AC2D-5EE0-6167-8E3928278CF3}"/>
                </a:ext>
              </a:extLst>
            </p:cNvPr>
            <p:cNvSpPr/>
            <p:nvPr/>
          </p:nvSpPr>
          <p:spPr>
            <a:xfrm>
              <a:off x="1101458" y="5036413"/>
              <a:ext cx="2599578" cy="4208196"/>
            </a:xfrm>
            <a:prstGeom prst="roundRect">
              <a:avLst/>
            </a:prstGeom>
            <a:noFill/>
            <a:ln w="38100"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3" name="Rounded Rectangle 202">
              <a:extLst>
                <a:ext uri="{FF2B5EF4-FFF2-40B4-BE49-F238E27FC236}">
                  <a16:creationId xmlns:a16="http://schemas.microsoft.com/office/drawing/2014/main" id="{55E857B3-034E-5F59-9CF5-7AABF6DF1549}"/>
                </a:ext>
              </a:extLst>
            </p:cNvPr>
            <p:cNvSpPr/>
            <p:nvPr/>
          </p:nvSpPr>
          <p:spPr>
            <a:xfrm>
              <a:off x="5340096" y="2239921"/>
              <a:ext cx="2599578" cy="6439309"/>
            </a:xfrm>
            <a:prstGeom prst="roundRect">
              <a:avLst/>
            </a:prstGeom>
            <a:noFill/>
            <a:ln w="38100">
              <a:solidFill>
                <a:schemeClr val="accent1">
                  <a:shade val="15000"/>
                  <a:alpha val="2492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2" name="Rounded Rectangle 201">
              <a:extLst>
                <a:ext uri="{FF2B5EF4-FFF2-40B4-BE49-F238E27FC236}">
                  <a16:creationId xmlns:a16="http://schemas.microsoft.com/office/drawing/2014/main" id="{F835C5EC-5BE9-0A9C-8F37-F04685905037}"/>
                </a:ext>
              </a:extLst>
            </p:cNvPr>
            <p:cNvSpPr/>
            <p:nvPr/>
          </p:nvSpPr>
          <p:spPr>
            <a:xfrm>
              <a:off x="5065776" y="2468521"/>
              <a:ext cx="2599578" cy="6439309"/>
            </a:xfrm>
            <a:prstGeom prst="roundRect">
              <a:avLst/>
            </a:prstGeom>
            <a:noFill/>
            <a:ln w="38100">
              <a:solidFill>
                <a:schemeClr val="accent1">
                  <a:shade val="15000"/>
                  <a:alpha val="49633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6" name="Rounded Rectangle 185">
              <a:extLst>
                <a:ext uri="{FF2B5EF4-FFF2-40B4-BE49-F238E27FC236}">
                  <a16:creationId xmlns:a16="http://schemas.microsoft.com/office/drawing/2014/main" id="{6CB9533E-BA48-60B6-E68D-3526FEA437BE}"/>
                </a:ext>
              </a:extLst>
            </p:cNvPr>
            <p:cNvSpPr/>
            <p:nvPr/>
          </p:nvSpPr>
          <p:spPr>
            <a:xfrm>
              <a:off x="4795405" y="2701660"/>
              <a:ext cx="2599578" cy="6542949"/>
            </a:xfrm>
            <a:prstGeom prst="roundRect">
              <a:avLst/>
            </a:prstGeom>
            <a:noFill/>
            <a:ln w="38100"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19CFC423-106F-689C-AB30-F491F7E042FF}"/>
                </a:ext>
              </a:extLst>
            </p:cNvPr>
            <p:cNvSpPr/>
            <p:nvPr/>
          </p:nvSpPr>
          <p:spPr>
            <a:xfrm>
              <a:off x="5260064" y="10513402"/>
              <a:ext cx="1710165" cy="601883"/>
            </a:xfrm>
            <a:prstGeom prst="rect">
              <a:avLst/>
            </a:prstGeom>
            <a:ln w="9525">
              <a:solidFill>
                <a:schemeClr val="tx1"/>
              </a:solidFill>
            </a:ln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3">
              <a:schemeClr val="lt1"/>
            </a:lnRef>
            <a:fillRef idx="1">
              <a:schemeClr val="accent5"/>
            </a:fillRef>
            <a:effectRef idx="1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Modern No. 20" panose="02070704070505020303" pitchFamily="18" charset="77"/>
                </a:rPr>
                <a:t>Embedding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Parallelogram 5">
                  <a:extLst>
                    <a:ext uri="{FF2B5EF4-FFF2-40B4-BE49-F238E27FC236}">
                      <a16:creationId xmlns:a16="http://schemas.microsoft.com/office/drawing/2014/main" id="{CE1A616A-889F-3209-D2DF-1C85E41139C1}"/>
                    </a:ext>
                  </a:extLst>
                </p:cNvPr>
                <p:cNvSpPr/>
                <p:nvPr/>
              </p:nvSpPr>
              <p:spPr>
                <a:xfrm>
                  <a:off x="5258215" y="9651088"/>
                  <a:ext cx="1702758" cy="567159"/>
                </a:xfrm>
                <a:prstGeom prst="parallelogram">
                  <a:avLst/>
                </a:prstGeom>
                <a:ln w="9525">
                  <a:solidFill>
                    <a:schemeClr val="tx1"/>
                  </a:solidFill>
                </a:ln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m:rPr>
                                <m:nor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d</m:t>
                            </m:r>
                            <m:r>
                              <m:rPr>
                                <m:nor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ec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latin typeface="Modern No. 20" panose="02070704070505020303" pitchFamily="18" charset="77"/>
                  </a:endParaRPr>
                </a:p>
              </p:txBody>
            </p:sp>
          </mc:Choice>
          <mc:Fallback xmlns="">
            <p:sp>
              <p:nvSpPr>
                <p:cNvPr id="6" name="Parallelogram 5">
                  <a:extLst>
                    <a:ext uri="{FF2B5EF4-FFF2-40B4-BE49-F238E27FC236}">
                      <a16:creationId xmlns:a16="http://schemas.microsoft.com/office/drawing/2014/main" id="{CE1A616A-889F-3209-D2DF-1C85E41139C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58215" y="9651088"/>
                  <a:ext cx="1702758" cy="567159"/>
                </a:xfrm>
                <a:prstGeom prst="parallelogram">
                  <a:avLst/>
                </a:prstGeom>
                <a:blipFill>
                  <a:blip r:embed="rId2"/>
                  <a:stretch>
                    <a:fillRect/>
                  </a:stretch>
                </a:blipFill>
                <a:ln w="9525">
                  <a:solidFill>
                    <a:schemeClr val="tx1"/>
                  </a:solidFill>
                </a:ln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2EA2BDE3-A002-D8E3-4B80-2556D73B094D}"/>
                </a:ext>
              </a:extLst>
            </p:cNvPr>
            <p:cNvSpPr/>
            <p:nvPr/>
          </p:nvSpPr>
          <p:spPr>
            <a:xfrm>
              <a:off x="1558718" y="8093092"/>
              <a:ext cx="1710165" cy="601883"/>
            </a:xfrm>
            <a:prstGeom prst="rect">
              <a:avLst/>
            </a:prstGeom>
            <a:solidFill>
              <a:schemeClr val="accent4">
                <a:lumMod val="60000"/>
                <a:lumOff val="40000"/>
              </a:schemeClr>
            </a:solidFill>
            <a:ln w="9525">
              <a:solidFill>
                <a:schemeClr val="tx1"/>
              </a:solidFill>
            </a:ln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3">
              <a:schemeClr val="lt1"/>
            </a:lnRef>
            <a:fillRef idx="1">
              <a:schemeClr val="accent5"/>
            </a:fillRef>
            <a:effectRef idx="1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Modern No. 20" panose="02070704070505020303" pitchFamily="18" charset="77"/>
                </a:rPr>
                <a:t>Multi-Head Self-Attention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14DF4894-038C-E182-ABFC-3204E9B69332}"/>
                </a:ext>
              </a:extLst>
            </p:cNvPr>
            <p:cNvSpPr/>
            <p:nvPr/>
          </p:nvSpPr>
          <p:spPr>
            <a:xfrm>
              <a:off x="1558719" y="7200942"/>
              <a:ext cx="1710165" cy="601883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 w="9525">
              <a:solidFill>
                <a:schemeClr val="tx1"/>
              </a:solidFill>
            </a:ln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3">
              <a:schemeClr val="lt1"/>
            </a:lnRef>
            <a:fillRef idx="1">
              <a:schemeClr val="accent5"/>
            </a:fillRef>
            <a:effectRef idx="1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Modern No. 20" panose="02070704070505020303" pitchFamily="18" charset="77"/>
                </a:rPr>
                <a:t>Addition &amp; Normalization</a:t>
              </a: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019D267C-4083-2104-014A-0D23D92D128D}"/>
                </a:ext>
              </a:extLst>
            </p:cNvPr>
            <p:cNvSpPr/>
            <p:nvPr/>
          </p:nvSpPr>
          <p:spPr>
            <a:xfrm>
              <a:off x="1560568" y="6295158"/>
              <a:ext cx="1710165" cy="601883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9525">
              <a:solidFill>
                <a:schemeClr val="tx1"/>
              </a:solidFill>
            </a:ln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3">
              <a:schemeClr val="lt1"/>
            </a:lnRef>
            <a:fillRef idx="1">
              <a:schemeClr val="accent5"/>
            </a:fillRef>
            <a:effectRef idx="1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Modern No. 20" panose="02070704070505020303" pitchFamily="18" charset="77"/>
                </a:rPr>
                <a:t>FFN</a:t>
              </a: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452B6023-EDB3-2306-4FDB-C3FC6C354E79}"/>
                </a:ext>
              </a:extLst>
            </p:cNvPr>
            <p:cNvSpPr/>
            <p:nvPr/>
          </p:nvSpPr>
          <p:spPr>
            <a:xfrm>
              <a:off x="1560571" y="5392334"/>
              <a:ext cx="1710165" cy="601883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 w="9525">
              <a:solidFill>
                <a:schemeClr val="tx1"/>
              </a:solidFill>
            </a:ln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3">
              <a:schemeClr val="lt1"/>
            </a:lnRef>
            <a:fillRef idx="1">
              <a:schemeClr val="accent5"/>
            </a:fillRef>
            <a:effectRef idx="1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Modern No. 20" panose="02070704070505020303" pitchFamily="18" charset="77"/>
                </a:rPr>
                <a:t>Addition &amp; Normalization</a:t>
              </a: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C6E9C91C-CF43-C6CC-725C-57F3D4CC7150}"/>
                </a:ext>
              </a:extLst>
            </p:cNvPr>
            <p:cNvSpPr/>
            <p:nvPr/>
          </p:nvSpPr>
          <p:spPr>
            <a:xfrm>
              <a:off x="5260063" y="7749083"/>
              <a:ext cx="1710165" cy="902823"/>
            </a:xfrm>
            <a:prstGeom prst="rect">
              <a:avLst/>
            </a:prstGeom>
            <a:solidFill>
              <a:schemeClr val="accent4">
                <a:lumMod val="60000"/>
                <a:lumOff val="40000"/>
              </a:schemeClr>
            </a:solidFill>
            <a:ln w="9525">
              <a:solidFill>
                <a:schemeClr val="tx1"/>
              </a:solidFill>
            </a:ln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3">
              <a:schemeClr val="lt1"/>
            </a:lnRef>
            <a:fillRef idx="1">
              <a:schemeClr val="accent5"/>
            </a:fillRef>
            <a:effectRef idx="1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Modern No. 20" panose="02070704070505020303" pitchFamily="18" charset="77"/>
                </a:rPr>
                <a:t>Masked Multi-Head Self-Attention</a:t>
              </a: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18D7AB7A-C59A-564C-FE7E-08AA1D204389}"/>
                </a:ext>
              </a:extLst>
            </p:cNvPr>
            <p:cNvSpPr/>
            <p:nvPr/>
          </p:nvSpPr>
          <p:spPr>
            <a:xfrm>
              <a:off x="5258216" y="5695166"/>
              <a:ext cx="1710165" cy="601883"/>
            </a:xfrm>
            <a:prstGeom prst="rect">
              <a:avLst/>
            </a:prstGeom>
            <a:solidFill>
              <a:schemeClr val="accent4">
                <a:lumMod val="60000"/>
                <a:lumOff val="40000"/>
              </a:schemeClr>
            </a:solidFill>
            <a:ln w="9525">
              <a:solidFill>
                <a:schemeClr val="tx1"/>
              </a:solidFill>
            </a:ln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3">
              <a:schemeClr val="lt1"/>
            </a:lnRef>
            <a:fillRef idx="1">
              <a:schemeClr val="accent5"/>
            </a:fillRef>
            <a:effectRef idx="1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Modern No. 20" panose="02070704070505020303" pitchFamily="18" charset="77"/>
                </a:rPr>
                <a:t>Multi-Head Cross-Attention</a:t>
              </a: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05408A90-687C-3483-1EF8-5A2B33851568}"/>
                </a:ext>
              </a:extLst>
            </p:cNvPr>
            <p:cNvSpPr/>
            <p:nvPr/>
          </p:nvSpPr>
          <p:spPr>
            <a:xfrm>
              <a:off x="5260067" y="3897233"/>
              <a:ext cx="1710165" cy="601883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9525">
              <a:solidFill>
                <a:schemeClr val="tx1"/>
              </a:solidFill>
            </a:ln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3">
              <a:schemeClr val="lt1"/>
            </a:lnRef>
            <a:fillRef idx="1">
              <a:schemeClr val="accent5"/>
            </a:fillRef>
            <a:effectRef idx="1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Modern No. 20" panose="02070704070505020303" pitchFamily="18" charset="77"/>
                </a:rPr>
                <a:t>FFN</a:t>
              </a: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7D297980-EB50-A5B6-5CE6-897F1B81E13C}"/>
                </a:ext>
              </a:extLst>
            </p:cNvPr>
            <p:cNvSpPr/>
            <p:nvPr/>
          </p:nvSpPr>
          <p:spPr>
            <a:xfrm>
              <a:off x="5258216" y="6791972"/>
              <a:ext cx="1710165" cy="601883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 w="9525">
              <a:solidFill>
                <a:schemeClr val="tx1"/>
              </a:solidFill>
            </a:ln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3">
              <a:schemeClr val="lt1"/>
            </a:lnRef>
            <a:fillRef idx="1">
              <a:schemeClr val="accent5"/>
            </a:fillRef>
            <a:effectRef idx="1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Modern No. 20" panose="02070704070505020303" pitchFamily="18" charset="77"/>
                </a:rPr>
                <a:t>Addition &amp; Normalization</a:t>
              </a: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EB959045-0EAE-A574-E8C6-DD4DD2467C3B}"/>
                </a:ext>
              </a:extLst>
            </p:cNvPr>
            <p:cNvSpPr/>
            <p:nvPr/>
          </p:nvSpPr>
          <p:spPr>
            <a:xfrm>
              <a:off x="5258215" y="4792342"/>
              <a:ext cx="1710165" cy="601883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 w="9525">
              <a:solidFill>
                <a:schemeClr val="tx1"/>
              </a:solidFill>
            </a:ln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3">
              <a:schemeClr val="lt1"/>
            </a:lnRef>
            <a:fillRef idx="1">
              <a:schemeClr val="accent5"/>
            </a:fillRef>
            <a:effectRef idx="1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Modern No. 20" panose="02070704070505020303" pitchFamily="18" charset="77"/>
                </a:rPr>
                <a:t>Addition &amp; Normalization</a:t>
              </a: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DF3F68FD-90D9-F0C7-3354-07065CC3AF71}"/>
                </a:ext>
              </a:extLst>
            </p:cNvPr>
            <p:cNvSpPr/>
            <p:nvPr/>
          </p:nvSpPr>
          <p:spPr>
            <a:xfrm>
              <a:off x="5258214" y="2994214"/>
              <a:ext cx="1710165" cy="601883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 w="9525">
              <a:solidFill>
                <a:schemeClr val="tx1"/>
              </a:solidFill>
            </a:ln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3">
              <a:schemeClr val="lt1"/>
            </a:lnRef>
            <a:fillRef idx="1">
              <a:schemeClr val="accent5"/>
            </a:fillRef>
            <a:effectRef idx="1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Modern No. 20" panose="02070704070505020303" pitchFamily="18" charset="77"/>
                </a:rPr>
                <a:t>Addition &amp; Normalization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Parallelogram 17">
                  <a:extLst>
                    <a:ext uri="{FF2B5EF4-FFF2-40B4-BE49-F238E27FC236}">
                      <a16:creationId xmlns:a16="http://schemas.microsoft.com/office/drawing/2014/main" id="{AD1984B7-55EA-AE75-1B36-231A14327C0A}"/>
                    </a:ext>
                  </a:extLst>
                </p:cNvPr>
                <p:cNvSpPr/>
                <p:nvPr/>
              </p:nvSpPr>
              <p:spPr>
                <a:xfrm>
                  <a:off x="1558717" y="11549980"/>
                  <a:ext cx="1710165" cy="567159"/>
                </a:xfrm>
                <a:prstGeom prst="parallelogram">
                  <a:avLst/>
                </a:prstGeom>
                <a:ln w="9525">
                  <a:solidFill>
                    <a:schemeClr val="tx1"/>
                  </a:solidFill>
                </a:ln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m:rPr>
                                <m:nor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c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latin typeface="Modern No. 20" panose="02070704070505020303" pitchFamily="18" charset="77"/>
                  </a:endParaRPr>
                </a:p>
              </p:txBody>
            </p:sp>
          </mc:Choice>
          <mc:Fallback xmlns="">
            <p:sp>
              <p:nvSpPr>
                <p:cNvPr id="18" name="Parallelogram 17">
                  <a:extLst>
                    <a:ext uri="{FF2B5EF4-FFF2-40B4-BE49-F238E27FC236}">
                      <a16:creationId xmlns:a16="http://schemas.microsoft.com/office/drawing/2014/main" id="{AD1984B7-55EA-AE75-1B36-231A14327C0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58717" y="11549980"/>
                  <a:ext cx="1710165" cy="567159"/>
                </a:xfrm>
                <a:prstGeom prst="parallelogram">
                  <a:avLst/>
                </a:prstGeom>
                <a:blipFill>
                  <a:blip r:embed="rId3"/>
                  <a:stretch>
                    <a:fillRect/>
                  </a:stretch>
                </a:blipFill>
                <a:ln w="9525">
                  <a:solidFill>
                    <a:schemeClr val="tx1"/>
                  </a:solidFill>
                </a:ln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Parallelogram 18">
                  <a:extLst>
                    <a:ext uri="{FF2B5EF4-FFF2-40B4-BE49-F238E27FC236}">
                      <a16:creationId xmlns:a16="http://schemas.microsoft.com/office/drawing/2014/main" id="{63E076E0-D1CB-6710-5E3A-7EE76977D2FF}"/>
                    </a:ext>
                  </a:extLst>
                </p:cNvPr>
                <p:cNvSpPr/>
                <p:nvPr/>
              </p:nvSpPr>
              <p:spPr>
                <a:xfrm>
                  <a:off x="5256363" y="11549980"/>
                  <a:ext cx="1710165" cy="567159"/>
                </a:xfrm>
                <a:prstGeom prst="parallelogram">
                  <a:avLst/>
                </a:prstGeom>
                <a:ln w="9525">
                  <a:solidFill>
                    <a:schemeClr val="tx1"/>
                  </a:solidFill>
                </a:ln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m:rPr>
                                <m:nor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p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latin typeface="Modern No. 20" panose="02070704070505020303" pitchFamily="18" charset="77"/>
                  </a:endParaRPr>
                </a:p>
              </p:txBody>
            </p:sp>
          </mc:Choice>
          <mc:Fallback xmlns="">
            <p:sp>
              <p:nvSpPr>
                <p:cNvPr id="19" name="Parallelogram 18">
                  <a:extLst>
                    <a:ext uri="{FF2B5EF4-FFF2-40B4-BE49-F238E27FC236}">
                      <a16:creationId xmlns:a16="http://schemas.microsoft.com/office/drawing/2014/main" id="{63E076E0-D1CB-6710-5E3A-7EE76977D2F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56363" y="11549980"/>
                  <a:ext cx="1710165" cy="567159"/>
                </a:xfrm>
                <a:prstGeom prst="parallelogram">
                  <a:avLst/>
                </a:prstGeom>
                <a:blipFill>
                  <a:blip r:embed="rId4"/>
                  <a:stretch>
                    <a:fillRect/>
                  </a:stretch>
                </a:blipFill>
                <a:ln w="9525">
                  <a:solidFill>
                    <a:schemeClr val="tx1"/>
                  </a:solidFill>
                </a:ln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86DD911-330D-468B-F9AE-D433AC1D4808}"/>
                </a:ext>
              </a:extLst>
            </p:cNvPr>
            <p:cNvSpPr/>
            <p:nvPr/>
          </p:nvSpPr>
          <p:spPr>
            <a:xfrm>
              <a:off x="1560569" y="10513403"/>
              <a:ext cx="1710165" cy="601883"/>
            </a:xfrm>
            <a:prstGeom prst="rect">
              <a:avLst/>
            </a:prstGeom>
            <a:ln w="9525">
              <a:solidFill>
                <a:schemeClr val="tx1"/>
              </a:solidFill>
            </a:ln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3">
              <a:schemeClr val="lt1"/>
            </a:lnRef>
            <a:fillRef idx="1">
              <a:schemeClr val="accent5"/>
            </a:fillRef>
            <a:effectRef idx="1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Modern No. 20" panose="02070704070505020303" pitchFamily="18" charset="77"/>
                </a:rPr>
                <a:t>Embedding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Parallelogram 20">
                  <a:extLst>
                    <a:ext uri="{FF2B5EF4-FFF2-40B4-BE49-F238E27FC236}">
                      <a16:creationId xmlns:a16="http://schemas.microsoft.com/office/drawing/2014/main" id="{2517EB04-64AB-EB0B-76B2-FD6EE37F766E}"/>
                    </a:ext>
                  </a:extLst>
                </p:cNvPr>
                <p:cNvSpPr/>
                <p:nvPr/>
              </p:nvSpPr>
              <p:spPr>
                <a:xfrm>
                  <a:off x="1564273" y="9649407"/>
                  <a:ext cx="1702757" cy="567159"/>
                </a:xfrm>
                <a:prstGeom prst="parallelogram">
                  <a:avLst/>
                </a:prstGeom>
                <a:ln w="9525">
                  <a:solidFill>
                    <a:schemeClr val="tx1"/>
                  </a:solidFill>
                </a:ln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m:rPr>
                                <m:nor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enc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latin typeface="Modern No. 20" panose="02070704070505020303" pitchFamily="18" charset="77"/>
                  </a:endParaRPr>
                </a:p>
              </p:txBody>
            </p:sp>
          </mc:Choice>
          <mc:Fallback xmlns="">
            <p:sp>
              <p:nvSpPr>
                <p:cNvPr id="21" name="Parallelogram 20">
                  <a:extLst>
                    <a:ext uri="{FF2B5EF4-FFF2-40B4-BE49-F238E27FC236}">
                      <a16:creationId xmlns:a16="http://schemas.microsoft.com/office/drawing/2014/main" id="{2517EB04-64AB-EB0B-76B2-FD6EE37F766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64273" y="9649407"/>
                  <a:ext cx="1702757" cy="567159"/>
                </a:xfrm>
                <a:prstGeom prst="parallelogram">
                  <a:avLst/>
                </a:prstGeom>
                <a:blipFill>
                  <a:blip r:embed="rId5"/>
                  <a:stretch>
                    <a:fillRect/>
                  </a:stretch>
                </a:blipFill>
                <a:ln w="9525">
                  <a:solidFill>
                    <a:schemeClr val="tx1"/>
                  </a:solidFill>
                </a:ln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15FE1AFB-7C7A-AE1C-A69A-78936E97357E}"/>
                </a:ext>
              </a:extLst>
            </p:cNvPr>
            <p:cNvCxnSpPr>
              <a:cxnSpLocks/>
              <a:stCxn id="18" idx="0"/>
              <a:endCxn id="20" idx="2"/>
            </p:cNvCxnSpPr>
            <p:nvPr/>
          </p:nvCxnSpPr>
          <p:spPr>
            <a:xfrm flipV="1">
              <a:off x="2413800" y="11115286"/>
              <a:ext cx="1852" cy="434694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A805D98A-A69E-6C23-462C-98D6384F6224}"/>
                </a:ext>
              </a:extLst>
            </p:cNvPr>
            <p:cNvCxnSpPr>
              <a:cxnSpLocks/>
              <a:stCxn id="20" idx="0"/>
              <a:endCxn id="21" idx="4"/>
            </p:cNvCxnSpPr>
            <p:nvPr/>
          </p:nvCxnSpPr>
          <p:spPr>
            <a:xfrm flipV="1">
              <a:off x="2415652" y="10216566"/>
              <a:ext cx="0" cy="296837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A316B509-BD4C-4F07-D61B-63821C11C044}"/>
                </a:ext>
              </a:extLst>
            </p:cNvPr>
            <p:cNvCxnSpPr>
              <a:cxnSpLocks/>
              <a:stCxn id="7" idx="0"/>
              <a:endCxn id="8" idx="2"/>
            </p:cNvCxnSpPr>
            <p:nvPr/>
          </p:nvCxnSpPr>
          <p:spPr>
            <a:xfrm flipV="1">
              <a:off x="2413801" y="7802825"/>
              <a:ext cx="1" cy="290267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7FD56FC8-22F8-7961-E2BC-522B9084DC41}"/>
                </a:ext>
              </a:extLst>
            </p:cNvPr>
            <p:cNvCxnSpPr>
              <a:cxnSpLocks/>
              <a:stCxn id="8" idx="0"/>
              <a:endCxn id="10" idx="2"/>
            </p:cNvCxnSpPr>
            <p:nvPr/>
          </p:nvCxnSpPr>
          <p:spPr>
            <a:xfrm flipV="1">
              <a:off x="2413802" y="6897041"/>
              <a:ext cx="1849" cy="303901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690B00F4-2BD0-298D-1DEC-0D35CEDFD114}"/>
                </a:ext>
              </a:extLst>
            </p:cNvPr>
            <p:cNvCxnSpPr>
              <a:cxnSpLocks/>
              <a:stCxn id="10" idx="0"/>
              <a:endCxn id="11" idx="2"/>
            </p:cNvCxnSpPr>
            <p:nvPr/>
          </p:nvCxnSpPr>
          <p:spPr>
            <a:xfrm flipV="1">
              <a:off x="2415651" y="5994217"/>
              <a:ext cx="3" cy="300941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Arrow Connector 43">
              <a:extLst>
                <a:ext uri="{FF2B5EF4-FFF2-40B4-BE49-F238E27FC236}">
                  <a16:creationId xmlns:a16="http://schemas.microsoft.com/office/drawing/2014/main" id="{C1E34893-296F-8A92-BFE2-A62ECE22E60B}"/>
                </a:ext>
              </a:extLst>
            </p:cNvPr>
            <p:cNvCxnSpPr>
              <a:cxnSpLocks/>
              <a:stCxn id="14" idx="0"/>
              <a:endCxn id="17" idx="2"/>
            </p:cNvCxnSpPr>
            <p:nvPr/>
          </p:nvCxnSpPr>
          <p:spPr>
            <a:xfrm flipH="1" flipV="1">
              <a:off x="6113297" y="3596097"/>
              <a:ext cx="1853" cy="301136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6C17EB07-DE24-C7C7-2149-1C2DCFED03DE}"/>
                </a:ext>
              </a:extLst>
            </p:cNvPr>
            <p:cNvCxnSpPr>
              <a:cxnSpLocks/>
              <a:stCxn id="16" idx="0"/>
              <a:endCxn id="14" idx="2"/>
            </p:cNvCxnSpPr>
            <p:nvPr/>
          </p:nvCxnSpPr>
          <p:spPr>
            <a:xfrm flipV="1">
              <a:off x="6113298" y="4499116"/>
              <a:ext cx="1852" cy="293226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Arrow Connector 49">
              <a:extLst>
                <a:ext uri="{FF2B5EF4-FFF2-40B4-BE49-F238E27FC236}">
                  <a16:creationId xmlns:a16="http://schemas.microsoft.com/office/drawing/2014/main" id="{8822F1BE-3FCD-9AD5-40E4-F0C98B0DBF0F}"/>
                </a:ext>
              </a:extLst>
            </p:cNvPr>
            <p:cNvCxnSpPr>
              <a:cxnSpLocks/>
              <a:stCxn id="13" idx="0"/>
              <a:endCxn id="16" idx="2"/>
            </p:cNvCxnSpPr>
            <p:nvPr/>
          </p:nvCxnSpPr>
          <p:spPr>
            <a:xfrm flipH="1" flipV="1">
              <a:off x="6113298" y="5394225"/>
              <a:ext cx="1" cy="300941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22E98555-0CF9-6A26-AA1B-6A520B397279}"/>
                </a:ext>
              </a:extLst>
            </p:cNvPr>
            <p:cNvCxnSpPr>
              <a:cxnSpLocks/>
              <a:stCxn id="12" idx="0"/>
              <a:endCxn id="15" idx="2"/>
            </p:cNvCxnSpPr>
            <p:nvPr/>
          </p:nvCxnSpPr>
          <p:spPr>
            <a:xfrm flipH="1" flipV="1">
              <a:off x="6113299" y="7393855"/>
              <a:ext cx="1847" cy="355228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Arrow Connector 62">
              <a:extLst>
                <a:ext uri="{FF2B5EF4-FFF2-40B4-BE49-F238E27FC236}">
                  <a16:creationId xmlns:a16="http://schemas.microsoft.com/office/drawing/2014/main" id="{A51CFC61-4B12-1163-C4E1-CE473BBBC605}"/>
                </a:ext>
              </a:extLst>
            </p:cNvPr>
            <p:cNvCxnSpPr>
              <a:cxnSpLocks/>
              <a:stCxn id="5" idx="0"/>
              <a:endCxn id="6" idx="4"/>
            </p:cNvCxnSpPr>
            <p:nvPr/>
          </p:nvCxnSpPr>
          <p:spPr>
            <a:xfrm flipH="1" flipV="1">
              <a:off x="6109594" y="10218247"/>
              <a:ext cx="5553" cy="295155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Arrow Connector 65">
              <a:extLst>
                <a:ext uri="{FF2B5EF4-FFF2-40B4-BE49-F238E27FC236}">
                  <a16:creationId xmlns:a16="http://schemas.microsoft.com/office/drawing/2014/main" id="{54650AC1-8DDE-2F8D-6F23-886C2F8A250E}"/>
                </a:ext>
              </a:extLst>
            </p:cNvPr>
            <p:cNvCxnSpPr>
              <a:cxnSpLocks/>
              <a:stCxn id="19" idx="0"/>
              <a:endCxn id="5" idx="2"/>
            </p:cNvCxnSpPr>
            <p:nvPr/>
          </p:nvCxnSpPr>
          <p:spPr>
            <a:xfrm flipV="1">
              <a:off x="6111446" y="11115285"/>
              <a:ext cx="3701" cy="434695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9" name="TextBox 138">
              <a:extLst>
                <a:ext uri="{FF2B5EF4-FFF2-40B4-BE49-F238E27FC236}">
                  <a16:creationId xmlns:a16="http://schemas.microsoft.com/office/drawing/2014/main" id="{E80305A0-4E2A-6BE4-D00D-DD1526950194}"/>
                </a:ext>
              </a:extLst>
            </p:cNvPr>
            <p:cNvSpPr txBox="1"/>
            <p:nvPr/>
          </p:nvSpPr>
          <p:spPr>
            <a:xfrm>
              <a:off x="6133497" y="6319369"/>
              <a:ext cx="34426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  <a:latin typeface="Modern No. 20" panose="02070704070505020303" pitchFamily="18" charset="77"/>
                </a:rPr>
                <a:t>Q</a:t>
              </a:r>
            </a:p>
          </p:txBody>
        </p:sp>
        <p:cxnSp>
          <p:nvCxnSpPr>
            <p:cNvPr id="141" name="Elbow Connector 140">
              <a:extLst>
                <a:ext uri="{FF2B5EF4-FFF2-40B4-BE49-F238E27FC236}">
                  <a16:creationId xmlns:a16="http://schemas.microsoft.com/office/drawing/2014/main" id="{270338B5-E634-DBE2-C37B-16543C6B4999}"/>
                </a:ext>
              </a:extLst>
            </p:cNvPr>
            <p:cNvCxnSpPr>
              <a:cxnSpLocks/>
              <a:endCxn id="8" idx="1"/>
            </p:cNvCxnSpPr>
            <p:nvPr/>
          </p:nvCxnSpPr>
          <p:spPr>
            <a:xfrm rot="16200000" flipV="1">
              <a:off x="1086250" y="7974353"/>
              <a:ext cx="1795724" cy="850785"/>
            </a:xfrm>
            <a:prstGeom prst="bentConnector4">
              <a:avLst>
                <a:gd name="adj1" fmla="val 13934"/>
                <a:gd name="adj2" fmla="val 126869"/>
              </a:avLst>
            </a:prstGeom>
            <a:ln w="38100">
              <a:solidFill>
                <a:schemeClr val="tx1"/>
              </a:solidFill>
              <a:bevel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8" name="Elbow Connector 147">
              <a:extLst>
                <a:ext uri="{FF2B5EF4-FFF2-40B4-BE49-F238E27FC236}">
                  <a16:creationId xmlns:a16="http://schemas.microsoft.com/office/drawing/2014/main" id="{1E31230F-646C-F2D0-8996-1AD8C323A3EB}"/>
                </a:ext>
              </a:extLst>
            </p:cNvPr>
            <p:cNvCxnSpPr>
              <a:cxnSpLocks/>
              <a:endCxn id="16" idx="3"/>
            </p:cNvCxnSpPr>
            <p:nvPr/>
          </p:nvCxnSpPr>
          <p:spPr>
            <a:xfrm rot="5400000" flipH="1" flipV="1">
              <a:off x="5878520" y="5648911"/>
              <a:ext cx="1645486" cy="534233"/>
            </a:xfrm>
            <a:prstGeom prst="bentConnector4">
              <a:avLst>
                <a:gd name="adj1" fmla="val 1316"/>
                <a:gd name="adj2" fmla="val 142790"/>
              </a:avLst>
            </a:prstGeom>
            <a:ln w="38100">
              <a:solidFill>
                <a:schemeClr val="tx1"/>
              </a:solidFill>
              <a:bevel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9" name="Elbow Connector 148">
              <a:extLst>
                <a:ext uri="{FF2B5EF4-FFF2-40B4-BE49-F238E27FC236}">
                  <a16:creationId xmlns:a16="http://schemas.microsoft.com/office/drawing/2014/main" id="{F783652E-E091-0AB9-ACDB-821ED36C1119}"/>
                </a:ext>
              </a:extLst>
            </p:cNvPr>
            <p:cNvCxnSpPr>
              <a:cxnSpLocks/>
              <a:stCxn id="193" idx="0"/>
            </p:cNvCxnSpPr>
            <p:nvPr/>
          </p:nvCxnSpPr>
          <p:spPr>
            <a:xfrm rot="16200000" flipH="1">
              <a:off x="2792944" y="3631190"/>
              <a:ext cx="2077825" cy="3966856"/>
            </a:xfrm>
            <a:prstGeom prst="bentConnector4">
              <a:avLst>
                <a:gd name="adj1" fmla="val -11002"/>
                <a:gd name="adj2" fmla="val 66383"/>
              </a:avLst>
            </a:prstGeom>
            <a:ln w="38100">
              <a:solidFill>
                <a:schemeClr val="tx1"/>
              </a:solidFill>
              <a:bevel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3" name="Straight Arrow Connector 152">
              <a:extLst>
                <a:ext uri="{FF2B5EF4-FFF2-40B4-BE49-F238E27FC236}">
                  <a16:creationId xmlns:a16="http://schemas.microsoft.com/office/drawing/2014/main" id="{29465095-A72C-C703-7D15-36B733D7452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113294" y="6293936"/>
              <a:ext cx="0" cy="384048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4" name="Elbow Connector 153">
              <a:extLst>
                <a:ext uri="{FF2B5EF4-FFF2-40B4-BE49-F238E27FC236}">
                  <a16:creationId xmlns:a16="http://schemas.microsoft.com/office/drawing/2014/main" id="{16991D4D-D3C2-E85D-0805-0ED00C586264}"/>
                </a:ext>
              </a:extLst>
            </p:cNvPr>
            <p:cNvCxnSpPr>
              <a:cxnSpLocks/>
              <a:stCxn id="15" idx="0"/>
            </p:cNvCxnSpPr>
            <p:nvPr/>
          </p:nvCxnSpPr>
          <p:spPr>
            <a:xfrm rot="5400000" flipH="1" flipV="1">
              <a:off x="6024119" y="6381946"/>
              <a:ext cx="499206" cy="320846"/>
            </a:xfrm>
            <a:prstGeom prst="bentConnector3">
              <a:avLst>
                <a:gd name="adj1" fmla="val 14091"/>
              </a:avLst>
            </a:prstGeom>
            <a:ln w="38100">
              <a:solidFill>
                <a:schemeClr val="tx1"/>
              </a:solidFill>
              <a:bevel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5" name="Elbow Connector 154">
              <a:extLst>
                <a:ext uri="{FF2B5EF4-FFF2-40B4-BE49-F238E27FC236}">
                  <a16:creationId xmlns:a16="http://schemas.microsoft.com/office/drawing/2014/main" id="{2B40CF64-312B-0102-E240-ED0F9437DCC5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5822964" y="6293936"/>
              <a:ext cx="290330" cy="365760"/>
            </a:xfrm>
            <a:prstGeom prst="bentConnector2">
              <a:avLst/>
            </a:prstGeom>
            <a:ln w="38100">
              <a:solidFill>
                <a:schemeClr val="tx1"/>
              </a:solidFill>
              <a:bevel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67" name="TextBox 166">
              <a:extLst>
                <a:ext uri="{FF2B5EF4-FFF2-40B4-BE49-F238E27FC236}">
                  <a16:creationId xmlns:a16="http://schemas.microsoft.com/office/drawing/2014/main" id="{E17AE339-B9C3-3E4C-92A8-BB7A19B81810}"/>
                </a:ext>
              </a:extLst>
            </p:cNvPr>
            <p:cNvSpPr txBox="1"/>
            <p:nvPr/>
          </p:nvSpPr>
          <p:spPr>
            <a:xfrm>
              <a:off x="5516592" y="6327847"/>
              <a:ext cx="759531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  <a:latin typeface="Modern No. 20" panose="02070704070505020303" pitchFamily="18" charset="77"/>
                </a:rPr>
                <a:t>K  V</a:t>
              </a:r>
              <a:endParaRPr lang="en-US" dirty="0"/>
            </a:p>
          </p:txBody>
        </p:sp>
        <p:cxnSp>
          <p:nvCxnSpPr>
            <p:cNvPr id="197" name="Straight Arrow Connector 196">
              <a:extLst>
                <a:ext uri="{FF2B5EF4-FFF2-40B4-BE49-F238E27FC236}">
                  <a16:creationId xmlns:a16="http://schemas.microsoft.com/office/drawing/2014/main" id="{88972F98-D838-1194-F670-7843CDB267E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413800" y="5095497"/>
              <a:ext cx="1" cy="296837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8" name="Straight Arrow Connector 197">
              <a:extLst>
                <a:ext uri="{FF2B5EF4-FFF2-40B4-BE49-F238E27FC236}">
                  <a16:creationId xmlns:a16="http://schemas.microsoft.com/office/drawing/2014/main" id="{D8CA234C-372B-4EEF-ACEB-E85C0F9A1BA1}"/>
                </a:ext>
              </a:extLst>
            </p:cNvPr>
            <p:cNvCxnSpPr>
              <a:cxnSpLocks/>
              <a:endCxn id="193" idx="0"/>
            </p:cNvCxnSpPr>
            <p:nvPr/>
          </p:nvCxnSpPr>
          <p:spPr>
            <a:xfrm flipH="1" flipV="1">
              <a:off x="1848429" y="4575706"/>
              <a:ext cx="565371" cy="531027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4" name="Straight Arrow Connector 203">
              <a:extLst>
                <a:ext uri="{FF2B5EF4-FFF2-40B4-BE49-F238E27FC236}">
                  <a16:creationId xmlns:a16="http://schemas.microsoft.com/office/drawing/2014/main" id="{097AC02C-1745-151B-9D06-E39B77D3E17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113293" y="2701660"/>
              <a:ext cx="1" cy="296837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2" name="Straight Arrow Connector 211">
              <a:extLst>
                <a:ext uri="{FF2B5EF4-FFF2-40B4-BE49-F238E27FC236}">
                  <a16:creationId xmlns:a16="http://schemas.microsoft.com/office/drawing/2014/main" id="{18DBE31E-E7F5-3892-C2B3-719366804B5D}"/>
                </a:ext>
              </a:extLst>
            </p:cNvPr>
            <p:cNvCxnSpPr>
              <a:cxnSpLocks/>
              <a:endCxn id="203" idx="0"/>
            </p:cNvCxnSpPr>
            <p:nvPr/>
          </p:nvCxnSpPr>
          <p:spPr>
            <a:xfrm flipV="1">
              <a:off x="6095194" y="2239921"/>
              <a:ext cx="544691" cy="506831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87" name="Group 186">
              <a:extLst>
                <a:ext uri="{FF2B5EF4-FFF2-40B4-BE49-F238E27FC236}">
                  <a16:creationId xmlns:a16="http://schemas.microsoft.com/office/drawing/2014/main" id="{1EDA7603-676B-8063-D7CD-2ADB1AB48C2A}"/>
                </a:ext>
              </a:extLst>
            </p:cNvPr>
            <p:cNvGrpSpPr/>
            <p:nvPr/>
          </p:nvGrpSpPr>
          <p:grpSpPr>
            <a:xfrm>
              <a:off x="5796151" y="8674911"/>
              <a:ext cx="648323" cy="977803"/>
              <a:chOff x="2055807" y="8826741"/>
              <a:chExt cx="648323" cy="977803"/>
            </a:xfrm>
          </p:grpSpPr>
          <p:cxnSp>
            <p:nvCxnSpPr>
              <p:cNvPr id="188" name="Straight Arrow Connector 187">
                <a:extLst>
                  <a:ext uri="{FF2B5EF4-FFF2-40B4-BE49-F238E27FC236}">
                    <a16:creationId xmlns:a16="http://schemas.microsoft.com/office/drawing/2014/main" id="{25D2A321-904A-6276-C94D-B0D62DFE717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370517" y="8838270"/>
                <a:ext cx="5552" cy="966274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9" name="Elbow Connector 188">
                <a:extLst>
                  <a:ext uri="{FF2B5EF4-FFF2-40B4-BE49-F238E27FC236}">
                    <a16:creationId xmlns:a16="http://schemas.microsoft.com/office/drawing/2014/main" id="{14998E71-95FB-9CC8-1875-049812FF9449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H="1">
                <a:off x="2413800" y="8826741"/>
                <a:ext cx="290330" cy="365760"/>
              </a:xfrm>
              <a:prstGeom prst="bentConnector2">
                <a:avLst/>
              </a:prstGeom>
              <a:ln w="38100">
                <a:solidFill>
                  <a:schemeClr val="tx1"/>
                </a:solidFill>
                <a:bevel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0" name="Elbow Connector 189">
                <a:extLst>
                  <a:ext uri="{FF2B5EF4-FFF2-40B4-BE49-F238E27FC236}">
                    <a16:creationId xmlns:a16="http://schemas.microsoft.com/office/drawing/2014/main" id="{F338E6AF-63AE-9009-4F50-B498E46EBC22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>
                <a:off x="2055807" y="8826741"/>
                <a:ext cx="290330" cy="365760"/>
              </a:xfrm>
              <a:prstGeom prst="bentConnector2">
                <a:avLst/>
              </a:prstGeom>
              <a:ln w="38100">
                <a:solidFill>
                  <a:schemeClr val="tx1"/>
                </a:solidFill>
                <a:bevel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47" name="Elbow Connector 146">
              <a:extLst>
                <a:ext uri="{FF2B5EF4-FFF2-40B4-BE49-F238E27FC236}">
                  <a16:creationId xmlns:a16="http://schemas.microsoft.com/office/drawing/2014/main" id="{91CE73A3-1C6F-3A0A-5585-CE767F1B95A5}"/>
                </a:ext>
              </a:extLst>
            </p:cNvPr>
            <p:cNvCxnSpPr>
              <a:cxnSpLocks/>
              <a:endCxn id="15" idx="3"/>
            </p:cNvCxnSpPr>
            <p:nvPr/>
          </p:nvCxnSpPr>
          <p:spPr>
            <a:xfrm rot="5400000" flipH="1" flipV="1">
              <a:off x="5547535" y="7658675"/>
              <a:ext cx="1986607" cy="855086"/>
            </a:xfrm>
            <a:prstGeom prst="bentConnector4">
              <a:avLst>
                <a:gd name="adj1" fmla="val 1512"/>
                <a:gd name="adj2" fmla="val 126734"/>
              </a:avLst>
            </a:prstGeom>
            <a:ln w="38100">
              <a:solidFill>
                <a:schemeClr val="tx1"/>
              </a:solidFill>
              <a:bevel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7" name="Rectangle 216">
              <a:extLst>
                <a:ext uri="{FF2B5EF4-FFF2-40B4-BE49-F238E27FC236}">
                  <a16:creationId xmlns:a16="http://schemas.microsoft.com/office/drawing/2014/main" id="{D08410E0-A1E0-AAF9-2495-5D35EB0911D0}"/>
                </a:ext>
              </a:extLst>
            </p:cNvPr>
            <p:cNvSpPr/>
            <p:nvPr/>
          </p:nvSpPr>
          <p:spPr>
            <a:xfrm>
              <a:off x="5892286" y="8861275"/>
              <a:ext cx="148420" cy="12194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8" name="Rectangle 217">
              <a:extLst>
                <a:ext uri="{FF2B5EF4-FFF2-40B4-BE49-F238E27FC236}">
                  <a16:creationId xmlns:a16="http://schemas.microsoft.com/office/drawing/2014/main" id="{A638D174-2934-E044-584E-C10368339DA8}"/>
                </a:ext>
              </a:extLst>
            </p:cNvPr>
            <p:cNvSpPr/>
            <p:nvPr/>
          </p:nvSpPr>
          <p:spPr>
            <a:xfrm>
              <a:off x="6200370" y="8849252"/>
              <a:ext cx="173949" cy="12394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9" name="TextBox 218">
              <a:extLst>
                <a:ext uri="{FF2B5EF4-FFF2-40B4-BE49-F238E27FC236}">
                  <a16:creationId xmlns:a16="http://schemas.microsoft.com/office/drawing/2014/main" id="{D342FC20-7181-40CD-408A-9833FA991A44}"/>
                </a:ext>
              </a:extLst>
            </p:cNvPr>
            <p:cNvSpPr txBox="1"/>
            <p:nvPr/>
          </p:nvSpPr>
          <p:spPr>
            <a:xfrm>
              <a:off x="697602" y="3808320"/>
              <a:ext cx="1177317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b="1" dirty="0">
                  <a:latin typeface="Modern No. 20" panose="02070704070505020303" pitchFamily="18" charset="77"/>
                </a:rPr>
                <a:t>Stacked Encoder</a:t>
              </a:r>
            </a:p>
          </p:txBody>
        </p:sp>
        <p:sp>
          <p:nvSpPr>
            <p:cNvPr id="220" name="TextBox 219">
              <a:extLst>
                <a:ext uri="{FF2B5EF4-FFF2-40B4-BE49-F238E27FC236}">
                  <a16:creationId xmlns:a16="http://schemas.microsoft.com/office/drawing/2014/main" id="{3829A6E5-5576-5434-AF57-BEFA7D4C8A9B}"/>
                </a:ext>
              </a:extLst>
            </p:cNvPr>
            <p:cNvSpPr txBox="1"/>
            <p:nvPr/>
          </p:nvSpPr>
          <p:spPr>
            <a:xfrm>
              <a:off x="4348512" y="1704819"/>
              <a:ext cx="1315890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b="1" dirty="0">
                  <a:latin typeface="Modern No. 20" panose="02070704070505020303" pitchFamily="18" charset="77"/>
                </a:rPr>
                <a:t>Stacked Decoder</a:t>
              </a:r>
            </a:p>
          </p:txBody>
        </p:sp>
        <p:sp>
          <p:nvSpPr>
            <p:cNvPr id="221" name="Rectangle 220">
              <a:extLst>
                <a:ext uri="{FF2B5EF4-FFF2-40B4-BE49-F238E27FC236}">
                  <a16:creationId xmlns:a16="http://schemas.microsoft.com/office/drawing/2014/main" id="{5C57C750-820A-CC6B-0280-949770465AC7}"/>
                </a:ext>
              </a:extLst>
            </p:cNvPr>
            <p:cNvSpPr/>
            <p:nvPr/>
          </p:nvSpPr>
          <p:spPr>
            <a:xfrm>
              <a:off x="5765320" y="1022541"/>
              <a:ext cx="1710165" cy="601883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 w="9525">
              <a:solidFill>
                <a:schemeClr val="tx1"/>
              </a:solidFill>
            </a:ln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3">
              <a:schemeClr val="lt1"/>
            </a:lnRef>
            <a:fillRef idx="1">
              <a:schemeClr val="accent5"/>
            </a:fillRef>
            <a:effectRef idx="1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Modern No. 20" panose="02070704070505020303" pitchFamily="18" charset="77"/>
                </a:rPr>
                <a:t>Output Layer</a:t>
              </a:r>
            </a:p>
          </p:txBody>
        </p:sp>
        <p:cxnSp>
          <p:nvCxnSpPr>
            <p:cNvPr id="222" name="Straight Arrow Connector 221">
              <a:extLst>
                <a:ext uri="{FF2B5EF4-FFF2-40B4-BE49-F238E27FC236}">
                  <a16:creationId xmlns:a16="http://schemas.microsoft.com/office/drawing/2014/main" id="{912749AD-F367-326D-CDD6-2A67CD6B57F7}"/>
                </a:ext>
              </a:extLst>
            </p:cNvPr>
            <p:cNvCxnSpPr>
              <a:cxnSpLocks/>
              <a:endCxn id="221" idx="2"/>
            </p:cNvCxnSpPr>
            <p:nvPr/>
          </p:nvCxnSpPr>
          <p:spPr>
            <a:xfrm flipH="1" flipV="1">
              <a:off x="6620403" y="1624424"/>
              <a:ext cx="1847" cy="642589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3" name="Parallelogram 222">
                  <a:extLst>
                    <a:ext uri="{FF2B5EF4-FFF2-40B4-BE49-F238E27FC236}">
                      <a16:creationId xmlns:a16="http://schemas.microsoft.com/office/drawing/2014/main" id="{27A03C80-0829-86F1-6913-3554E84CACEE}"/>
                    </a:ext>
                  </a:extLst>
                </p:cNvPr>
                <p:cNvSpPr/>
                <p:nvPr/>
              </p:nvSpPr>
              <p:spPr>
                <a:xfrm>
                  <a:off x="5750334" y="36762"/>
                  <a:ext cx="1710164" cy="567159"/>
                </a:xfrm>
                <a:prstGeom prst="parallelogram">
                  <a:avLst/>
                </a:prstGeom>
                <a:ln w="9525">
                  <a:solidFill>
                    <a:schemeClr val="tx1"/>
                  </a:solidFill>
                </a:ln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</m:e>
                            </m:acc>
                          </m:e>
                          <m:sub>
                            <m:r>
                              <m:rPr>
                                <m:nor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p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latin typeface="Modern No. 20" panose="02070704070505020303" pitchFamily="18" charset="77"/>
                  </a:endParaRPr>
                </a:p>
              </p:txBody>
            </p:sp>
          </mc:Choice>
          <mc:Fallback xmlns="">
            <p:sp>
              <p:nvSpPr>
                <p:cNvPr id="223" name="Parallelogram 222">
                  <a:extLst>
                    <a:ext uri="{FF2B5EF4-FFF2-40B4-BE49-F238E27FC236}">
                      <a16:creationId xmlns:a16="http://schemas.microsoft.com/office/drawing/2014/main" id="{27A03C80-0829-86F1-6913-3554E84CACE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50334" y="36762"/>
                  <a:ext cx="1710164" cy="567159"/>
                </a:xfrm>
                <a:prstGeom prst="parallelogram">
                  <a:avLst/>
                </a:prstGeom>
                <a:blipFill>
                  <a:blip r:embed="rId6"/>
                  <a:stretch>
                    <a:fillRect/>
                  </a:stretch>
                </a:blipFill>
                <a:ln w="9525">
                  <a:solidFill>
                    <a:schemeClr val="tx1"/>
                  </a:solidFill>
                </a:ln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48" name="Rectangle 247">
              <a:extLst>
                <a:ext uri="{FF2B5EF4-FFF2-40B4-BE49-F238E27FC236}">
                  <a16:creationId xmlns:a16="http://schemas.microsoft.com/office/drawing/2014/main" id="{AF995937-DB84-8BAB-49AB-A2CC0B75B0CC}"/>
                </a:ext>
              </a:extLst>
            </p:cNvPr>
            <p:cNvSpPr/>
            <p:nvPr/>
          </p:nvSpPr>
          <p:spPr>
            <a:xfrm>
              <a:off x="5624616" y="8841870"/>
              <a:ext cx="147154" cy="17151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9" name="TextBox 238">
                  <a:extLst>
                    <a:ext uri="{FF2B5EF4-FFF2-40B4-BE49-F238E27FC236}">
                      <a16:creationId xmlns:a16="http://schemas.microsoft.com/office/drawing/2014/main" id="{6112744F-0F13-9B07-CE58-47E5A3DF8D34}"/>
                    </a:ext>
                  </a:extLst>
                </p:cNvPr>
                <p:cNvSpPr txBox="1"/>
                <p:nvPr/>
              </p:nvSpPr>
              <p:spPr>
                <a:xfrm>
                  <a:off x="2746503" y="3956735"/>
                  <a:ext cx="1177318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𝜏</m:t>
                            </m:r>
                          </m:e>
                          <m:sub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</m:s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dirty="0">
                    <a:latin typeface="Modern No. 20" panose="02070704070505020303" pitchFamily="18" charset="77"/>
                  </a:endParaRPr>
                </a:p>
              </p:txBody>
            </p:sp>
          </mc:Choice>
          <mc:Fallback xmlns="">
            <p:sp>
              <p:nvSpPr>
                <p:cNvPr id="239" name="TextBox 238">
                  <a:extLst>
                    <a:ext uri="{FF2B5EF4-FFF2-40B4-BE49-F238E27FC236}">
                      <a16:creationId xmlns:a16="http://schemas.microsoft.com/office/drawing/2014/main" id="{6112744F-0F13-9B07-CE58-47E5A3DF8D3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746503" y="3956735"/>
                  <a:ext cx="1177318" cy="369332"/>
                </a:xfrm>
                <a:prstGeom prst="rect">
                  <a:avLst/>
                </a:prstGeom>
                <a:blipFill>
                  <a:blip r:embed="rId7"/>
                  <a:stretch>
                    <a:fillRect l="-2128" r="-3191" b="-1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2" name="TextBox 241">
                  <a:extLst>
                    <a:ext uri="{FF2B5EF4-FFF2-40B4-BE49-F238E27FC236}">
                      <a16:creationId xmlns:a16="http://schemas.microsoft.com/office/drawing/2014/main" id="{12C29384-43A8-462A-8874-AEC0FC489700}"/>
                    </a:ext>
                  </a:extLst>
                </p:cNvPr>
                <p:cNvSpPr txBox="1"/>
                <p:nvPr/>
              </p:nvSpPr>
              <p:spPr>
                <a:xfrm>
                  <a:off x="2381038" y="9274518"/>
                  <a:ext cx="1177318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𝜏</m:t>
                            </m:r>
                          </m:e>
                          <m:sub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</m:s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dirty="0">
                    <a:latin typeface="Modern No. 20" panose="02070704070505020303" pitchFamily="18" charset="77"/>
                  </a:endParaRPr>
                </a:p>
              </p:txBody>
            </p:sp>
          </mc:Choice>
          <mc:Fallback xmlns="">
            <p:sp>
              <p:nvSpPr>
                <p:cNvPr id="242" name="TextBox 241">
                  <a:extLst>
                    <a:ext uri="{FF2B5EF4-FFF2-40B4-BE49-F238E27FC236}">
                      <a16:creationId xmlns:a16="http://schemas.microsoft.com/office/drawing/2014/main" id="{12C29384-43A8-462A-8874-AEC0FC48970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381038" y="9274518"/>
                  <a:ext cx="1177318" cy="369332"/>
                </a:xfrm>
                <a:prstGeom prst="rect">
                  <a:avLst/>
                </a:prstGeom>
                <a:blipFill>
                  <a:blip r:embed="rId8"/>
                  <a:stretch>
                    <a:fillRect l="-2128" r="-3191"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38" name="TextBox 237">
              <a:extLst>
                <a:ext uri="{FF2B5EF4-FFF2-40B4-BE49-F238E27FC236}">
                  <a16:creationId xmlns:a16="http://schemas.microsoft.com/office/drawing/2014/main" id="{7E7C06B6-3A11-E6E8-3DEC-49A487162004}"/>
                </a:ext>
              </a:extLst>
            </p:cNvPr>
            <p:cNvSpPr txBox="1"/>
            <p:nvPr/>
          </p:nvSpPr>
          <p:spPr>
            <a:xfrm>
              <a:off x="5487201" y="8691263"/>
              <a:ext cx="99738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  <a:latin typeface="Modern No. 20" panose="02070704070505020303" pitchFamily="18" charset="77"/>
                </a:rPr>
                <a:t>K   V   Q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9" name="TextBox 248">
                  <a:extLst>
                    <a:ext uri="{FF2B5EF4-FFF2-40B4-BE49-F238E27FC236}">
                      <a16:creationId xmlns:a16="http://schemas.microsoft.com/office/drawing/2014/main" id="{1FC3096B-D820-D2F5-60B3-1AF8E3989F89}"/>
                    </a:ext>
                  </a:extLst>
                </p:cNvPr>
                <p:cNvSpPr txBox="1"/>
                <p:nvPr/>
              </p:nvSpPr>
              <p:spPr>
                <a:xfrm>
                  <a:off x="6085945" y="9263810"/>
                  <a:ext cx="1177318" cy="39074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𝜏</m:t>
                            </m:r>
                          </m:e>
                          <m:sub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</m:s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dirty="0">
                    <a:latin typeface="Modern No. 20" panose="02070704070505020303" pitchFamily="18" charset="77"/>
                  </a:endParaRPr>
                </a:p>
              </p:txBody>
            </p:sp>
          </mc:Choice>
          <mc:Fallback xmlns="">
            <p:sp>
              <p:nvSpPr>
                <p:cNvPr id="249" name="TextBox 248">
                  <a:extLst>
                    <a:ext uri="{FF2B5EF4-FFF2-40B4-BE49-F238E27FC236}">
                      <a16:creationId xmlns:a16="http://schemas.microsoft.com/office/drawing/2014/main" id="{1FC3096B-D820-D2F5-60B3-1AF8E3989F8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85945" y="9263810"/>
                  <a:ext cx="1177318" cy="390748"/>
                </a:xfrm>
                <a:prstGeom prst="rect">
                  <a:avLst/>
                </a:prstGeom>
                <a:blipFill>
                  <a:blip r:embed="rId9"/>
                  <a:stretch>
                    <a:fillRect l="-2151" r="-5376" b="-625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0" name="TextBox 249">
                  <a:extLst>
                    <a:ext uri="{FF2B5EF4-FFF2-40B4-BE49-F238E27FC236}">
                      <a16:creationId xmlns:a16="http://schemas.microsoft.com/office/drawing/2014/main" id="{F4504B1E-C42A-D057-1155-589BCB9EFFCE}"/>
                    </a:ext>
                  </a:extLst>
                </p:cNvPr>
                <p:cNvSpPr txBox="1"/>
                <p:nvPr/>
              </p:nvSpPr>
              <p:spPr>
                <a:xfrm>
                  <a:off x="6618555" y="1795191"/>
                  <a:ext cx="1177318" cy="39074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𝜏</m:t>
                            </m:r>
                          </m:e>
                          <m:sub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</m:s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dirty="0">
                    <a:latin typeface="Modern No. 20" panose="02070704070505020303" pitchFamily="18" charset="77"/>
                  </a:endParaRPr>
                </a:p>
              </p:txBody>
            </p:sp>
          </mc:Choice>
          <mc:Fallback xmlns="">
            <p:sp>
              <p:nvSpPr>
                <p:cNvPr id="250" name="TextBox 249">
                  <a:extLst>
                    <a:ext uri="{FF2B5EF4-FFF2-40B4-BE49-F238E27FC236}">
                      <a16:creationId xmlns:a16="http://schemas.microsoft.com/office/drawing/2014/main" id="{F4504B1E-C42A-D057-1155-589BCB9EFFC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18555" y="1795191"/>
                  <a:ext cx="1177318" cy="390748"/>
                </a:xfrm>
                <a:prstGeom prst="rect">
                  <a:avLst/>
                </a:prstGeom>
                <a:blipFill>
                  <a:blip r:embed="rId10"/>
                  <a:stretch>
                    <a:fillRect l="-2151" r="-5376" b="-625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3" name="TextBox 252">
                  <a:extLst>
                    <a:ext uri="{FF2B5EF4-FFF2-40B4-BE49-F238E27FC236}">
                      <a16:creationId xmlns:a16="http://schemas.microsoft.com/office/drawing/2014/main" id="{45A9BA94-C84C-7E7B-FB8E-9D852F5E3FAB}"/>
                    </a:ext>
                  </a:extLst>
                </p:cNvPr>
                <p:cNvSpPr txBox="1"/>
                <p:nvPr/>
              </p:nvSpPr>
              <p:spPr>
                <a:xfrm>
                  <a:off x="6095194" y="11159232"/>
                  <a:ext cx="1177318" cy="39074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𝜏</m:t>
                            </m:r>
                          </m:e>
                          <m:sub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</m:s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dirty="0">
                    <a:latin typeface="Modern No. 20" panose="02070704070505020303" pitchFamily="18" charset="77"/>
                  </a:endParaRPr>
                </a:p>
              </p:txBody>
            </p:sp>
          </mc:Choice>
          <mc:Fallback xmlns="">
            <p:sp>
              <p:nvSpPr>
                <p:cNvPr id="253" name="TextBox 252">
                  <a:extLst>
                    <a:ext uri="{FF2B5EF4-FFF2-40B4-BE49-F238E27FC236}">
                      <a16:creationId xmlns:a16="http://schemas.microsoft.com/office/drawing/2014/main" id="{45A9BA94-C84C-7E7B-FB8E-9D852F5E3FA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95194" y="11159232"/>
                  <a:ext cx="1177318" cy="390748"/>
                </a:xfrm>
                <a:prstGeom prst="rect">
                  <a:avLst/>
                </a:prstGeom>
                <a:blipFill>
                  <a:blip r:embed="rId11"/>
                  <a:stretch>
                    <a:fillRect l="-2151" r="-1075" b="-937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4" name="TextBox 253">
                  <a:extLst>
                    <a:ext uri="{FF2B5EF4-FFF2-40B4-BE49-F238E27FC236}">
                      <a16:creationId xmlns:a16="http://schemas.microsoft.com/office/drawing/2014/main" id="{34718790-B5C9-51E4-291C-FE5CF9FE051E}"/>
                    </a:ext>
                  </a:extLst>
                </p:cNvPr>
                <p:cNvSpPr txBox="1"/>
                <p:nvPr/>
              </p:nvSpPr>
              <p:spPr>
                <a:xfrm>
                  <a:off x="6639885" y="641119"/>
                  <a:ext cx="1177318" cy="39074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𝜏</m:t>
                            </m:r>
                          </m:e>
                          <m:sub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</m:s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dirty="0">
                    <a:latin typeface="Modern No. 20" panose="02070704070505020303" pitchFamily="18" charset="77"/>
                  </a:endParaRPr>
                </a:p>
              </p:txBody>
            </p:sp>
          </mc:Choice>
          <mc:Fallback xmlns="">
            <p:sp>
              <p:nvSpPr>
                <p:cNvPr id="254" name="TextBox 253">
                  <a:extLst>
                    <a:ext uri="{FF2B5EF4-FFF2-40B4-BE49-F238E27FC236}">
                      <a16:creationId xmlns:a16="http://schemas.microsoft.com/office/drawing/2014/main" id="{34718790-B5C9-51E4-291C-FE5CF9FE051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39885" y="641119"/>
                  <a:ext cx="1177318" cy="390748"/>
                </a:xfrm>
                <a:prstGeom prst="rect">
                  <a:avLst/>
                </a:prstGeom>
                <a:blipFill>
                  <a:blip r:embed="rId12"/>
                  <a:stretch>
                    <a:fillRect l="-1064" r="-1064" b="-625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63" name="Straight Arrow Connector 262">
              <a:extLst>
                <a:ext uri="{FF2B5EF4-FFF2-40B4-BE49-F238E27FC236}">
                  <a16:creationId xmlns:a16="http://schemas.microsoft.com/office/drawing/2014/main" id="{715231F0-0E86-E7E5-ACCA-22512ABF371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618555" y="608160"/>
              <a:ext cx="1852" cy="434694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4" name="TextBox 263">
                  <a:extLst>
                    <a:ext uri="{FF2B5EF4-FFF2-40B4-BE49-F238E27FC236}">
                      <a16:creationId xmlns:a16="http://schemas.microsoft.com/office/drawing/2014/main" id="{14F9EE91-CDEB-2449-0015-63D70713418F}"/>
                    </a:ext>
                  </a:extLst>
                </p:cNvPr>
                <p:cNvSpPr txBox="1"/>
                <p:nvPr/>
              </p:nvSpPr>
              <p:spPr>
                <a:xfrm>
                  <a:off x="2409505" y="11159232"/>
                  <a:ext cx="1177318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𝜏</m:t>
                            </m:r>
                          </m:e>
                          <m:sub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</m:s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dirty="0">
                    <a:latin typeface="Modern No. 20" panose="02070704070505020303" pitchFamily="18" charset="77"/>
                  </a:endParaRPr>
                </a:p>
              </p:txBody>
            </p:sp>
          </mc:Choice>
          <mc:Fallback xmlns="">
            <p:sp>
              <p:nvSpPr>
                <p:cNvPr id="264" name="TextBox 263">
                  <a:extLst>
                    <a:ext uri="{FF2B5EF4-FFF2-40B4-BE49-F238E27FC236}">
                      <a16:creationId xmlns:a16="http://schemas.microsoft.com/office/drawing/2014/main" id="{14F9EE91-CDEB-2449-0015-63D70713418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09505" y="11159232"/>
                  <a:ext cx="1177318" cy="369332"/>
                </a:xfrm>
                <a:prstGeom prst="rect">
                  <a:avLst/>
                </a:prstGeom>
                <a:blipFill>
                  <a:blip r:embed="rId13"/>
                  <a:stretch>
                    <a:fillRect b="-1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267" name="Group 266">
              <a:extLst>
                <a:ext uri="{FF2B5EF4-FFF2-40B4-BE49-F238E27FC236}">
                  <a16:creationId xmlns:a16="http://schemas.microsoft.com/office/drawing/2014/main" id="{740C6B14-259A-5B61-589D-3713E9FEBE25}"/>
                </a:ext>
              </a:extLst>
            </p:cNvPr>
            <p:cNvGrpSpPr/>
            <p:nvPr/>
          </p:nvGrpSpPr>
          <p:grpSpPr>
            <a:xfrm>
              <a:off x="2094624" y="8684301"/>
              <a:ext cx="648323" cy="977803"/>
              <a:chOff x="2055807" y="8826741"/>
              <a:chExt cx="648323" cy="977803"/>
            </a:xfrm>
          </p:grpSpPr>
          <p:cxnSp>
            <p:nvCxnSpPr>
              <p:cNvPr id="268" name="Straight Arrow Connector 267">
                <a:extLst>
                  <a:ext uri="{FF2B5EF4-FFF2-40B4-BE49-F238E27FC236}">
                    <a16:creationId xmlns:a16="http://schemas.microsoft.com/office/drawing/2014/main" id="{7A44DD66-47FF-1A2B-DEAF-FC3C10EF646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370517" y="8838270"/>
                <a:ext cx="5552" cy="966274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9" name="Elbow Connector 268">
                <a:extLst>
                  <a:ext uri="{FF2B5EF4-FFF2-40B4-BE49-F238E27FC236}">
                    <a16:creationId xmlns:a16="http://schemas.microsoft.com/office/drawing/2014/main" id="{8CAE172F-6795-3581-FE30-6B57F2A94F59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H="1">
                <a:off x="2413800" y="8826741"/>
                <a:ext cx="290330" cy="365760"/>
              </a:xfrm>
              <a:prstGeom prst="bentConnector2">
                <a:avLst/>
              </a:prstGeom>
              <a:ln w="38100">
                <a:solidFill>
                  <a:schemeClr val="tx1"/>
                </a:solidFill>
                <a:bevel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0" name="Elbow Connector 269">
                <a:extLst>
                  <a:ext uri="{FF2B5EF4-FFF2-40B4-BE49-F238E27FC236}">
                    <a16:creationId xmlns:a16="http://schemas.microsoft.com/office/drawing/2014/main" id="{5E780FA7-6622-5F52-C3AD-1EFC0B4EA52C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>
                <a:off x="2055807" y="8826741"/>
                <a:ext cx="290330" cy="365760"/>
              </a:xfrm>
              <a:prstGeom prst="bentConnector2">
                <a:avLst/>
              </a:prstGeom>
              <a:ln w="38100">
                <a:solidFill>
                  <a:schemeClr val="tx1"/>
                </a:solidFill>
                <a:bevel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73" name="Rectangle 272">
              <a:extLst>
                <a:ext uri="{FF2B5EF4-FFF2-40B4-BE49-F238E27FC236}">
                  <a16:creationId xmlns:a16="http://schemas.microsoft.com/office/drawing/2014/main" id="{93AE7737-F4FC-3D04-F5EF-1CD88CCA832B}"/>
                </a:ext>
              </a:extLst>
            </p:cNvPr>
            <p:cNvSpPr/>
            <p:nvPr/>
          </p:nvSpPr>
          <p:spPr>
            <a:xfrm>
              <a:off x="2473045" y="8905255"/>
              <a:ext cx="244610" cy="11422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4" name="Rectangle 273">
              <a:extLst>
                <a:ext uri="{FF2B5EF4-FFF2-40B4-BE49-F238E27FC236}">
                  <a16:creationId xmlns:a16="http://schemas.microsoft.com/office/drawing/2014/main" id="{95C23236-B418-BD85-5B5E-C261B2FAFF76}"/>
                </a:ext>
              </a:extLst>
            </p:cNvPr>
            <p:cNvSpPr/>
            <p:nvPr/>
          </p:nvSpPr>
          <p:spPr>
            <a:xfrm>
              <a:off x="2141425" y="8903480"/>
              <a:ext cx="244610" cy="11422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5" name="Rectangle 274">
              <a:extLst>
                <a:ext uri="{FF2B5EF4-FFF2-40B4-BE49-F238E27FC236}">
                  <a16:creationId xmlns:a16="http://schemas.microsoft.com/office/drawing/2014/main" id="{980C7241-0767-4424-F44E-E2216ECA6F42}"/>
                </a:ext>
              </a:extLst>
            </p:cNvPr>
            <p:cNvSpPr/>
            <p:nvPr/>
          </p:nvSpPr>
          <p:spPr>
            <a:xfrm>
              <a:off x="1823147" y="8900741"/>
              <a:ext cx="244610" cy="11422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6" name="TextBox 135">
              <a:extLst>
                <a:ext uri="{FF2B5EF4-FFF2-40B4-BE49-F238E27FC236}">
                  <a16:creationId xmlns:a16="http://schemas.microsoft.com/office/drawing/2014/main" id="{C1B49628-C06C-8EE0-7C40-8BB930080067}"/>
                </a:ext>
              </a:extLst>
            </p:cNvPr>
            <p:cNvSpPr txBox="1"/>
            <p:nvPr/>
          </p:nvSpPr>
          <p:spPr>
            <a:xfrm>
              <a:off x="1765035" y="8710189"/>
              <a:ext cx="99738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  <a:latin typeface="Modern No. 20" panose="02070704070505020303" pitchFamily="18" charset="77"/>
                </a:rPr>
                <a:t>K   V   Q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2350878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1361E7-0257-DFFC-CB44-83EF7E8865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TextBox 139">
            <a:extLst>
              <a:ext uri="{FF2B5EF4-FFF2-40B4-BE49-F238E27FC236}">
                <a16:creationId xmlns:a16="http://schemas.microsoft.com/office/drawing/2014/main" id="{276FB24A-8C86-6388-4E83-9A8E8FAE2BDE}"/>
              </a:ext>
            </a:extLst>
          </p:cNvPr>
          <p:cNvSpPr txBox="1"/>
          <p:nvPr/>
        </p:nvSpPr>
        <p:spPr>
          <a:xfrm>
            <a:off x="9242909" y="5468618"/>
            <a:ext cx="1978227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TODO check that this holds for informer, </a:t>
            </a:r>
            <a:r>
              <a:rPr lang="en-US" dirty="0" err="1"/>
              <a:t>autoformer</a:t>
            </a:r>
            <a:r>
              <a:rPr lang="en-US" dirty="0"/>
              <a:t>, </a:t>
            </a:r>
            <a:r>
              <a:rPr lang="en-US" dirty="0" err="1"/>
              <a:t>spacetimeformer</a:t>
            </a:r>
            <a:endParaRPr lang="en-US" dirty="0"/>
          </a:p>
        </p:txBody>
      </p:sp>
      <p:grpSp>
        <p:nvGrpSpPr>
          <p:cNvPr id="276" name="Group 275">
            <a:extLst>
              <a:ext uri="{FF2B5EF4-FFF2-40B4-BE49-F238E27FC236}">
                <a16:creationId xmlns:a16="http://schemas.microsoft.com/office/drawing/2014/main" id="{63194F4B-58A3-20FB-19E7-8AB9C4EACF4D}"/>
              </a:ext>
            </a:extLst>
          </p:cNvPr>
          <p:cNvGrpSpPr/>
          <p:nvPr/>
        </p:nvGrpSpPr>
        <p:grpSpPr>
          <a:xfrm>
            <a:off x="723807" y="3694777"/>
            <a:ext cx="7391034" cy="7579649"/>
            <a:chOff x="548640" y="4537490"/>
            <a:chExt cx="7391034" cy="7579649"/>
          </a:xfrm>
        </p:grpSpPr>
        <p:sp>
          <p:nvSpPr>
            <p:cNvPr id="193" name="Rounded Rectangle 192">
              <a:extLst>
                <a:ext uri="{FF2B5EF4-FFF2-40B4-BE49-F238E27FC236}">
                  <a16:creationId xmlns:a16="http://schemas.microsoft.com/office/drawing/2014/main" id="{AFA4F3EB-78B7-7064-35A2-D0B035406687}"/>
                </a:ext>
              </a:extLst>
            </p:cNvPr>
            <p:cNvSpPr/>
            <p:nvPr/>
          </p:nvSpPr>
          <p:spPr>
            <a:xfrm>
              <a:off x="548640" y="6645902"/>
              <a:ext cx="2599578" cy="2127840"/>
            </a:xfrm>
            <a:prstGeom prst="roundRect">
              <a:avLst/>
            </a:prstGeom>
            <a:noFill/>
            <a:ln w="38100">
              <a:solidFill>
                <a:schemeClr val="accent1">
                  <a:shade val="15000"/>
                  <a:alpha val="24737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2" name="Rounded Rectangle 191">
              <a:extLst>
                <a:ext uri="{FF2B5EF4-FFF2-40B4-BE49-F238E27FC236}">
                  <a16:creationId xmlns:a16="http://schemas.microsoft.com/office/drawing/2014/main" id="{D337C9AC-A703-058B-A291-9864EEB26E58}"/>
                </a:ext>
              </a:extLst>
            </p:cNvPr>
            <p:cNvSpPr/>
            <p:nvPr/>
          </p:nvSpPr>
          <p:spPr>
            <a:xfrm>
              <a:off x="819079" y="6876533"/>
              <a:ext cx="2599578" cy="2127840"/>
            </a:xfrm>
            <a:prstGeom prst="roundRect">
              <a:avLst/>
            </a:prstGeom>
            <a:noFill/>
            <a:ln w="38100">
              <a:solidFill>
                <a:schemeClr val="accent1">
                  <a:shade val="15000"/>
                  <a:alpha val="50247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3" name="Rounded Rectangle 182">
              <a:extLst>
                <a:ext uri="{FF2B5EF4-FFF2-40B4-BE49-F238E27FC236}">
                  <a16:creationId xmlns:a16="http://schemas.microsoft.com/office/drawing/2014/main" id="{F6F1F5B7-2877-1BAD-976C-71608D42945E}"/>
                </a:ext>
              </a:extLst>
            </p:cNvPr>
            <p:cNvSpPr/>
            <p:nvPr/>
          </p:nvSpPr>
          <p:spPr>
            <a:xfrm>
              <a:off x="1101458" y="7106609"/>
              <a:ext cx="2599578" cy="2127840"/>
            </a:xfrm>
            <a:prstGeom prst="roundRect">
              <a:avLst/>
            </a:prstGeom>
            <a:noFill/>
            <a:ln w="38100"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3" name="Rounded Rectangle 202">
              <a:extLst>
                <a:ext uri="{FF2B5EF4-FFF2-40B4-BE49-F238E27FC236}">
                  <a16:creationId xmlns:a16="http://schemas.microsoft.com/office/drawing/2014/main" id="{F2B4E35F-3593-87A3-AEB0-DF2883F63C38}"/>
                </a:ext>
              </a:extLst>
            </p:cNvPr>
            <p:cNvSpPr/>
            <p:nvPr/>
          </p:nvSpPr>
          <p:spPr>
            <a:xfrm>
              <a:off x="5340096" y="6729970"/>
              <a:ext cx="2599578" cy="1945538"/>
            </a:xfrm>
            <a:prstGeom prst="roundRect">
              <a:avLst/>
            </a:prstGeom>
            <a:noFill/>
            <a:ln w="38100">
              <a:solidFill>
                <a:schemeClr val="accent1">
                  <a:shade val="15000"/>
                  <a:alpha val="2492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2" name="Rounded Rectangle 201">
              <a:extLst>
                <a:ext uri="{FF2B5EF4-FFF2-40B4-BE49-F238E27FC236}">
                  <a16:creationId xmlns:a16="http://schemas.microsoft.com/office/drawing/2014/main" id="{0BA2C714-6440-F178-75F9-7A76C7AC6860}"/>
                </a:ext>
              </a:extLst>
            </p:cNvPr>
            <p:cNvSpPr/>
            <p:nvPr/>
          </p:nvSpPr>
          <p:spPr>
            <a:xfrm>
              <a:off x="5065776" y="6958570"/>
              <a:ext cx="2599578" cy="1945538"/>
            </a:xfrm>
            <a:prstGeom prst="roundRect">
              <a:avLst/>
            </a:prstGeom>
            <a:noFill/>
            <a:ln w="38100">
              <a:solidFill>
                <a:schemeClr val="accent1">
                  <a:shade val="15000"/>
                  <a:alpha val="49633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6" name="Rounded Rectangle 185">
              <a:extLst>
                <a:ext uri="{FF2B5EF4-FFF2-40B4-BE49-F238E27FC236}">
                  <a16:creationId xmlns:a16="http://schemas.microsoft.com/office/drawing/2014/main" id="{1A6CE3C7-AFEA-8A4B-63DF-792ADE8869B9}"/>
                </a:ext>
              </a:extLst>
            </p:cNvPr>
            <p:cNvSpPr/>
            <p:nvPr/>
          </p:nvSpPr>
          <p:spPr>
            <a:xfrm>
              <a:off x="4795405" y="7257598"/>
              <a:ext cx="2599578" cy="1976851"/>
            </a:xfrm>
            <a:prstGeom prst="roundRect">
              <a:avLst/>
            </a:prstGeom>
            <a:noFill/>
            <a:ln w="38100"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D2D9E58B-82E7-7131-9C9B-0C6DC8E0B0C3}"/>
                </a:ext>
              </a:extLst>
            </p:cNvPr>
            <p:cNvSpPr/>
            <p:nvPr/>
          </p:nvSpPr>
          <p:spPr>
            <a:xfrm>
              <a:off x="5260064" y="10513402"/>
              <a:ext cx="1710165" cy="601883"/>
            </a:xfrm>
            <a:prstGeom prst="rect">
              <a:avLst/>
            </a:prstGeom>
            <a:ln w="9525">
              <a:solidFill>
                <a:schemeClr val="tx1"/>
              </a:solidFill>
            </a:ln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3">
              <a:schemeClr val="lt1"/>
            </a:lnRef>
            <a:fillRef idx="1">
              <a:schemeClr val="accent5"/>
            </a:fillRef>
            <a:effectRef idx="1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/>
                <a:t>Embedding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Parallelogram 5">
                  <a:extLst>
                    <a:ext uri="{FF2B5EF4-FFF2-40B4-BE49-F238E27FC236}">
                      <a16:creationId xmlns:a16="http://schemas.microsoft.com/office/drawing/2014/main" id="{3BA8C1BB-91F3-4883-8F2E-1316A6702A4A}"/>
                    </a:ext>
                  </a:extLst>
                </p:cNvPr>
                <p:cNvSpPr/>
                <p:nvPr/>
              </p:nvSpPr>
              <p:spPr>
                <a:xfrm>
                  <a:off x="5258215" y="9651088"/>
                  <a:ext cx="1702758" cy="567159"/>
                </a:xfrm>
                <a:prstGeom prst="parallelogram">
                  <a:avLst/>
                </a:prstGeom>
                <a:ln w="9525">
                  <a:solidFill>
                    <a:schemeClr val="tx1"/>
                  </a:solidFill>
                </a:ln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m:rPr>
                                <m:nor/>
                              </m:rPr>
                              <a:rPr lang="en-US" sz="2000" b="0" i="0" smtClean="0">
                                <a:latin typeface="Cambria Math" panose="02040503050406030204" pitchFamily="18" charset="0"/>
                              </a:rPr>
                              <m:t>d</m:t>
                            </m:r>
                            <m:r>
                              <m:rPr>
                                <m:nor/>
                              </m:rPr>
                              <a:rPr lang="en-US" sz="2000">
                                <a:latin typeface="Cambria Math" panose="02040503050406030204" pitchFamily="18" charset="0"/>
                              </a:rPr>
                              <m:t>ec</m:t>
                            </m:r>
                          </m:sub>
                        </m:sSub>
                      </m:oMath>
                    </m:oMathPara>
                  </a14:m>
                  <a:endParaRPr lang="en-US" sz="2000" dirty="0">
                    <a:latin typeface="Modern No. 20" panose="02070704070505020303" pitchFamily="18" charset="77"/>
                  </a:endParaRPr>
                </a:p>
              </p:txBody>
            </p:sp>
          </mc:Choice>
          <mc:Fallback xmlns="">
            <p:sp>
              <p:nvSpPr>
                <p:cNvPr id="6" name="Parallelogram 5">
                  <a:extLst>
                    <a:ext uri="{FF2B5EF4-FFF2-40B4-BE49-F238E27FC236}">
                      <a16:creationId xmlns:a16="http://schemas.microsoft.com/office/drawing/2014/main" id="{3BA8C1BB-91F3-4883-8F2E-1316A6702A4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58215" y="9651088"/>
                  <a:ext cx="1702758" cy="567159"/>
                </a:xfrm>
                <a:prstGeom prst="parallelogram">
                  <a:avLst/>
                </a:prstGeom>
                <a:blipFill>
                  <a:blip r:embed="rId2"/>
                  <a:stretch>
                    <a:fillRect/>
                  </a:stretch>
                </a:blipFill>
                <a:ln w="9525">
                  <a:solidFill>
                    <a:schemeClr val="tx1"/>
                  </a:solidFill>
                </a:ln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375C00E6-93CD-8BF8-512B-63DFEA2B54AE}"/>
                </a:ext>
              </a:extLst>
            </p:cNvPr>
            <p:cNvSpPr/>
            <p:nvPr/>
          </p:nvSpPr>
          <p:spPr>
            <a:xfrm>
              <a:off x="1558718" y="7257598"/>
              <a:ext cx="1710165" cy="1427217"/>
            </a:xfrm>
            <a:prstGeom prst="rect">
              <a:avLst/>
            </a:prstGeom>
            <a:solidFill>
              <a:schemeClr val="accent4">
                <a:lumMod val="60000"/>
                <a:lumOff val="40000"/>
              </a:schemeClr>
            </a:solidFill>
            <a:ln w="9525">
              <a:solidFill>
                <a:schemeClr val="tx1"/>
              </a:solidFill>
            </a:ln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3">
              <a:schemeClr val="lt1"/>
            </a:lnRef>
            <a:fillRef idx="1">
              <a:schemeClr val="accent5"/>
            </a:fillRef>
            <a:effectRef idx="1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/>
                <a:t>Encoder </a:t>
              </a:r>
            </a:p>
            <a:p>
              <a:pPr algn="ctr"/>
              <a:r>
                <a:rPr lang="en-US" sz="2000" dirty="0"/>
                <a:t>Layer</a:t>
              </a: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F4C2626E-B379-4C4C-B043-67649BE4D89D}"/>
                </a:ext>
              </a:extLst>
            </p:cNvPr>
            <p:cNvSpPr/>
            <p:nvPr/>
          </p:nvSpPr>
          <p:spPr>
            <a:xfrm>
              <a:off x="5258216" y="7386893"/>
              <a:ext cx="1710165" cy="1317976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 w="9525">
              <a:solidFill>
                <a:schemeClr val="tx1"/>
              </a:solidFill>
            </a:ln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3">
              <a:schemeClr val="lt1"/>
            </a:lnRef>
            <a:fillRef idx="1">
              <a:schemeClr val="accent5"/>
            </a:fillRef>
            <a:effectRef idx="1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/>
                <a:t>Decoder </a:t>
              </a:r>
            </a:p>
            <a:p>
              <a:pPr algn="ctr"/>
              <a:r>
                <a:rPr lang="en-US" sz="2000" dirty="0"/>
                <a:t>Layer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Parallelogram 17">
                  <a:extLst>
                    <a:ext uri="{FF2B5EF4-FFF2-40B4-BE49-F238E27FC236}">
                      <a16:creationId xmlns:a16="http://schemas.microsoft.com/office/drawing/2014/main" id="{83F1037B-2C80-A252-4597-4B405FE742CC}"/>
                    </a:ext>
                  </a:extLst>
                </p:cNvPr>
                <p:cNvSpPr/>
                <p:nvPr/>
              </p:nvSpPr>
              <p:spPr>
                <a:xfrm>
                  <a:off x="1558717" y="11549980"/>
                  <a:ext cx="1710165" cy="567159"/>
                </a:xfrm>
                <a:prstGeom prst="parallelogram">
                  <a:avLst/>
                </a:prstGeom>
                <a:ln w="9525">
                  <a:solidFill>
                    <a:schemeClr val="tx1"/>
                  </a:solidFill>
                </a:ln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m:rPr>
                                <m:nor/>
                              </m:rPr>
                              <a:rPr lang="en-US" sz="2000" b="0" i="0" smtClean="0">
                                <a:latin typeface="Cambria Math" panose="02040503050406030204" pitchFamily="18" charset="0"/>
                              </a:rPr>
                              <m:t>c</m:t>
                            </m:r>
                          </m:sub>
                        </m:sSub>
                      </m:oMath>
                    </m:oMathPara>
                  </a14:m>
                  <a:endParaRPr lang="en-US" sz="2000" dirty="0">
                    <a:latin typeface="Modern No. 20" panose="02070704070505020303" pitchFamily="18" charset="77"/>
                  </a:endParaRPr>
                </a:p>
              </p:txBody>
            </p:sp>
          </mc:Choice>
          <mc:Fallback xmlns="">
            <p:sp>
              <p:nvSpPr>
                <p:cNvPr id="18" name="Parallelogram 17">
                  <a:extLst>
                    <a:ext uri="{FF2B5EF4-FFF2-40B4-BE49-F238E27FC236}">
                      <a16:creationId xmlns:a16="http://schemas.microsoft.com/office/drawing/2014/main" id="{83F1037B-2C80-A252-4597-4B405FE742C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58717" y="11549980"/>
                  <a:ext cx="1710165" cy="567159"/>
                </a:xfrm>
                <a:prstGeom prst="parallelogram">
                  <a:avLst/>
                </a:prstGeom>
                <a:blipFill>
                  <a:blip r:embed="rId3"/>
                  <a:stretch>
                    <a:fillRect/>
                  </a:stretch>
                </a:blipFill>
                <a:ln w="9525">
                  <a:solidFill>
                    <a:schemeClr val="tx1"/>
                  </a:solidFill>
                </a:ln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Parallelogram 18">
                  <a:extLst>
                    <a:ext uri="{FF2B5EF4-FFF2-40B4-BE49-F238E27FC236}">
                      <a16:creationId xmlns:a16="http://schemas.microsoft.com/office/drawing/2014/main" id="{5A1BD00D-9E40-61B1-AD89-97CABF7DAEF1}"/>
                    </a:ext>
                  </a:extLst>
                </p:cNvPr>
                <p:cNvSpPr/>
                <p:nvPr/>
              </p:nvSpPr>
              <p:spPr>
                <a:xfrm>
                  <a:off x="5256363" y="11549980"/>
                  <a:ext cx="1710165" cy="567159"/>
                </a:xfrm>
                <a:prstGeom prst="parallelogram">
                  <a:avLst/>
                </a:prstGeom>
                <a:ln w="9525">
                  <a:solidFill>
                    <a:schemeClr val="tx1"/>
                  </a:solidFill>
                </a:ln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m:rPr>
                                <m:nor/>
                              </m:rPr>
                              <a:rPr lang="en-US" sz="2000" b="0" i="0" smtClean="0">
                                <a:latin typeface="Cambria Math" panose="02040503050406030204" pitchFamily="18" charset="0"/>
                              </a:rPr>
                              <m:t>p</m:t>
                            </m:r>
                          </m:sub>
                        </m:sSub>
                      </m:oMath>
                    </m:oMathPara>
                  </a14:m>
                  <a:endParaRPr lang="en-US" sz="2000" dirty="0">
                    <a:latin typeface="Modern No. 20" panose="02070704070505020303" pitchFamily="18" charset="77"/>
                  </a:endParaRPr>
                </a:p>
              </p:txBody>
            </p:sp>
          </mc:Choice>
          <mc:Fallback xmlns="">
            <p:sp>
              <p:nvSpPr>
                <p:cNvPr id="19" name="Parallelogram 18">
                  <a:extLst>
                    <a:ext uri="{FF2B5EF4-FFF2-40B4-BE49-F238E27FC236}">
                      <a16:creationId xmlns:a16="http://schemas.microsoft.com/office/drawing/2014/main" id="{5A1BD00D-9E40-61B1-AD89-97CABF7DAEF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56363" y="11549980"/>
                  <a:ext cx="1710165" cy="567159"/>
                </a:xfrm>
                <a:prstGeom prst="parallelogram">
                  <a:avLst/>
                </a:prstGeom>
                <a:blipFill>
                  <a:blip r:embed="rId4"/>
                  <a:stretch>
                    <a:fillRect/>
                  </a:stretch>
                </a:blipFill>
                <a:ln w="9525">
                  <a:solidFill>
                    <a:schemeClr val="tx1"/>
                  </a:solidFill>
                </a:ln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3ED4AB74-AE8B-1BBF-CB00-7C3554262534}"/>
                </a:ext>
              </a:extLst>
            </p:cNvPr>
            <p:cNvSpPr/>
            <p:nvPr/>
          </p:nvSpPr>
          <p:spPr>
            <a:xfrm>
              <a:off x="1560569" y="10513403"/>
              <a:ext cx="1710165" cy="601883"/>
            </a:xfrm>
            <a:prstGeom prst="rect">
              <a:avLst/>
            </a:prstGeom>
            <a:ln w="9525">
              <a:solidFill>
                <a:schemeClr val="tx1"/>
              </a:solidFill>
            </a:ln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3">
              <a:schemeClr val="lt1"/>
            </a:lnRef>
            <a:fillRef idx="1">
              <a:schemeClr val="accent5"/>
            </a:fillRef>
            <a:effectRef idx="1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/>
                <a:t>Embedding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Parallelogram 20">
                  <a:extLst>
                    <a:ext uri="{FF2B5EF4-FFF2-40B4-BE49-F238E27FC236}">
                      <a16:creationId xmlns:a16="http://schemas.microsoft.com/office/drawing/2014/main" id="{74B232CC-F139-E7F9-3DF0-6759A828E7A9}"/>
                    </a:ext>
                  </a:extLst>
                </p:cNvPr>
                <p:cNvSpPr/>
                <p:nvPr/>
              </p:nvSpPr>
              <p:spPr>
                <a:xfrm>
                  <a:off x="1564273" y="9649407"/>
                  <a:ext cx="1702757" cy="567159"/>
                </a:xfrm>
                <a:prstGeom prst="parallelogram">
                  <a:avLst/>
                </a:prstGeom>
                <a:ln w="9525">
                  <a:solidFill>
                    <a:schemeClr val="tx1"/>
                  </a:solidFill>
                </a:ln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m:rPr>
                                <m:nor/>
                              </m:rPr>
                              <a:rPr lang="en-US" sz="2000">
                                <a:latin typeface="Cambria Math" panose="02040503050406030204" pitchFamily="18" charset="0"/>
                              </a:rPr>
                              <m:t>enc</m:t>
                            </m:r>
                          </m:sub>
                        </m:sSub>
                      </m:oMath>
                    </m:oMathPara>
                  </a14:m>
                  <a:endParaRPr lang="en-US" sz="2000" dirty="0">
                    <a:latin typeface="Modern No. 20" panose="02070704070505020303" pitchFamily="18" charset="77"/>
                  </a:endParaRPr>
                </a:p>
              </p:txBody>
            </p:sp>
          </mc:Choice>
          <mc:Fallback xmlns="">
            <p:sp>
              <p:nvSpPr>
                <p:cNvPr id="21" name="Parallelogram 20">
                  <a:extLst>
                    <a:ext uri="{FF2B5EF4-FFF2-40B4-BE49-F238E27FC236}">
                      <a16:creationId xmlns:a16="http://schemas.microsoft.com/office/drawing/2014/main" id="{74B232CC-F139-E7F9-3DF0-6759A828E7A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64273" y="9649407"/>
                  <a:ext cx="1702757" cy="567159"/>
                </a:xfrm>
                <a:prstGeom prst="parallelogram">
                  <a:avLst/>
                </a:prstGeom>
                <a:blipFill>
                  <a:blip r:embed="rId5"/>
                  <a:stretch>
                    <a:fillRect/>
                  </a:stretch>
                </a:blipFill>
                <a:ln w="9525">
                  <a:solidFill>
                    <a:schemeClr val="tx1"/>
                  </a:solidFill>
                </a:ln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BD37742B-1A41-EC47-97B0-67E2F5424AA8}"/>
                </a:ext>
              </a:extLst>
            </p:cNvPr>
            <p:cNvCxnSpPr>
              <a:cxnSpLocks/>
              <a:stCxn id="18" idx="0"/>
              <a:endCxn id="20" idx="2"/>
            </p:cNvCxnSpPr>
            <p:nvPr/>
          </p:nvCxnSpPr>
          <p:spPr>
            <a:xfrm flipV="1">
              <a:off x="2413800" y="11115286"/>
              <a:ext cx="1852" cy="434694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BDC42475-6558-DB09-C9FA-DFC5B37893E4}"/>
                </a:ext>
              </a:extLst>
            </p:cNvPr>
            <p:cNvCxnSpPr>
              <a:cxnSpLocks/>
              <a:stCxn id="20" idx="0"/>
              <a:endCxn id="21" idx="4"/>
            </p:cNvCxnSpPr>
            <p:nvPr/>
          </p:nvCxnSpPr>
          <p:spPr>
            <a:xfrm flipV="1">
              <a:off x="2415652" y="10216566"/>
              <a:ext cx="0" cy="296837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Arrow Connector 62">
              <a:extLst>
                <a:ext uri="{FF2B5EF4-FFF2-40B4-BE49-F238E27FC236}">
                  <a16:creationId xmlns:a16="http://schemas.microsoft.com/office/drawing/2014/main" id="{38E14EA5-152C-EF37-F741-19244BF5B268}"/>
                </a:ext>
              </a:extLst>
            </p:cNvPr>
            <p:cNvCxnSpPr>
              <a:cxnSpLocks/>
              <a:stCxn id="5" idx="0"/>
              <a:endCxn id="6" idx="4"/>
            </p:cNvCxnSpPr>
            <p:nvPr/>
          </p:nvCxnSpPr>
          <p:spPr>
            <a:xfrm flipH="1" flipV="1">
              <a:off x="6109594" y="10218247"/>
              <a:ext cx="5553" cy="295155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Arrow Connector 65">
              <a:extLst>
                <a:ext uri="{FF2B5EF4-FFF2-40B4-BE49-F238E27FC236}">
                  <a16:creationId xmlns:a16="http://schemas.microsoft.com/office/drawing/2014/main" id="{98BA48E2-4424-F9A0-D266-3F581CAC7B8A}"/>
                </a:ext>
              </a:extLst>
            </p:cNvPr>
            <p:cNvCxnSpPr>
              <a:cxnSpLocks/>
              <a:stCxn id="19" idx="0"/>
              <a:endCxn id="5" idx="2"/>
            </p:cNvCxnSpPr>
            <p:nvPr/>
          </p:nvCxnSpPr>
          <p:spPr>
            <a:xfrm flipV="1">
              <a:off x="6111446" y="11115285"/>
              <a:ext cx="3701" cy="434695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9" name="Elbow Connector 148">
              <a:extLst>
                <a:ext uri="{FF2B5EF4-FFF2-40B4-BE49-F238E27FC236}">
                  <a16:creationId xmlns:a16="http://schemas.microsoft.com/office/drawing/2014/main" id="{C1FCA50F-57B9-1554-C036-5F21C24DAD13}"/>
                </a:ext>
              </a:extLst>
            </p:cNvPr>
            <p:cNvCxnSpPr>
              <a:cxnSpLocks/>
              <a:stCxn id="193" idx="0"/>
              <a:endCxn id="15" idx="1"/>
            </p:cNvCxnSpPr>
            <p:nvPr/>
          </p:nvCxnSpPr>
          <p:spPr>
            <a:xfrm rot="16200000" flipH="1">
              <a:off x="2853332" y="5640998"/>
              <a:ext cx="1399979" cy="3409787"/>
            </a:xfrm>
            <a:prstGeom prst="bentConnector4">
              <a:avLst>
                <a:gd name="adj1" fmla="val -16329"/>
                <a:gd name="adj2" fmla="val 69060"/>
              </a:avLst>
            </a:prstGeom>
            <a:ln w="38100">
              <a:solidFill>
                <a:schemeClr val="tx1"/>
              </a:solidFill>
              <a:bevel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8" name="Straight Arrow Connector 197">
              <a:extLst>
                <a:ext uri="{FF2B5EF4-FFF2-40B4-BE49-F238E27FC236}">
                  <a16:creationId xmlns:a16="http://schemas.microsoft.com/office/drawing/2014/main" id="{C1B0BB48-7942-2F50-B2DD-38678DA0DEE6}"/>
                </a:ext>
              </a:extLst>
            </p:cNvPr>
            <p:cNvCxnSpPr>
              <a:cxnSpLocks/>
              <a:stCxn id="7" idx="0"/>
              <a:endCxn id="193" idx="0"/>
            </p:cNvCxnSpPr>
            <p:nvPr/>
          </p:nvCxnSpPr>
          <p:spPr>
            <a:xfrm flipH="1" flipV="1">
              <a:off x="1848429" y="6645902"/>
              <a:ext cx="565372" cy="611696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2" name="Straight Arrow Connector 211">
              <a:extLst>
                <a:ext uri="{FF2B5EF4-FFF2-40B4-BE49-F238E27FC236}">
                  <a16:creationId xmlns:a16="http://schemas.microsoft.com/office/drawing/2014/main" id="{3F1C7350-5459-C861-DEBB-0C6B04E89D05}"/>
                </a:ext>
              </a:extLst>
            </p:cNvPr>
            <p:cNvCxnSpPr>
              <a:cxnSpLocks/>
              <a:stCxn id="15" idx="0"/>
              <a:endCxn id="203" idx="0"/>
            </p:cNvCxnSpPr>
            <p:nvPr/>
          </p:nvCxnSpPr>
          <p:spPr>
            <a:xfrm flipV="1">
              <a:off x="6113299" y="6729970"/>
              <a:ext cx="526586" cy="656923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8" name="Straight Arrow Connector 187">
              <a:extLst>
                <a:ext uri="{FF2B5EF4-FFF2-40B4-BE49-F238E27FC236}">
                  <a16:creationId xmlns:a16="http://schemas.microsoft.com/office/drawing/2014/main" id="{A8A1FCBC-77E9-5BC3-1A10-7677B1AB42C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110861" y="8696600"/>
              <a:ext cx="5552" cy="966274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7" name="Rectangle 216">
              <a:extLst>
                <a:ext uri="{FF2B5EF4-FFF2-40B4-BE49-F238E27FC236}">
                  <a16:creationId xmlns:a16="http://schemas.microsoft.com/office/drawing/2014/main" id="{CEC9865F-5D6C-618E-10F8-2D59ED44AF51}"/>
                </a:ext>
              </a:extLst>
            </p:cNvPr>
            <p:cNvSpPr/>
            <p:nvPr/>
          </p:nvSpPr>
          <p:spPr>
            <a:xfrm>
              <a:off x="5892286" y="8863815"/>
              <a:ext cx="148420" cy="12194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8" name="Rectangle 217">
              <a:extLst>
                <a:ext uri="{FF2B5EF4-FFF2-40B4-BE49-F238E27FC236}">
                  <a16:creationId xmlns:a16="http://schemas.microsoft.com/office/drawing/2014/main" id="{CCE489DB-5198-31ED-8196-3C5FE4E576EE}"/>
                </a:ext>
              </a:extLst>
            </p:cNvPr>
            <p:cNvSpPr/>
            <p:nvPr/>
          </p:nvSpPr>
          <p:spPr>
            <a:xfrm>
              <a:off x="6200370" y="8851792"/>
              <a:ext cx="173949" cy="12394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9" name="TextBox 218">
              <a:extLst>
                <a:ext uri="{FF2B5EF4-FFF2-40B4-BE49-F238E27FC236}">
                  <a16:creationId xmlns:a16="http://schemas.microsoft.com/office/drawing/2014/main" id="{511A74F0-35F4-AEE1-CC6F-7B4AFF4B6363}"/>
                </a:ext>
              </a:extLst>
            </p:cNvPr>
            <p:cNvSpPr txBox="1"/>
            <p:nvPr/>
          </p:nvSpPr>
          <p:spPr>
            <a:xfrm>
              <a:off x="548640" y="5910235"/>
              <a:ext cx="1177317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b="1" dirty="0"/>
                <a:t>Stacked Encoder</a:t>
              </a:r>
            </a:p>
          </p:txBody>
        </p:sp>
        <p:sp>
          <p:nvSpPr>
            <p:cNvPr id="220" name="TextBox 219">
              <a:extLst>
                <a:ext uri="{FF2B5EF4-FFF2-40B4-BE49-F238E27FC236}">
                  <a16:creationId xmlns:a16="http://schemas.microsoft.com/office/drawing/2014/main" id="{D7F0DEF6-F520-D372-CC88-0B9FFD56D7F4}"/>
                </a:ext>
              </a:extLst>
            </p:cNvPr>
            <p:cNvSpPr txBox="1"/>
            <p:nvPr/>
          </p:nvSpPr>
          <p:spPr>
            <a:xfrm>
              <a:off x="4468911" y="6077698"/>
              <a:ext cx="1315890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b="1" dirty="0"/>
                <a:t>Stacked Decoder</a:t>
              </a:r>
            </a:p>
          </p:txBody>
        </p:sp>
        <p:sp>
          <p:nvSpPr>
            <p:cNvPr id="221" name="Rectangle 220">
              <a:extLst>
                <a:ext uri="{FF2B5EF4-FFF2-40B4-BE49-F238E27FC236}">
                  <a16:creationId xmlns:a16="http://schemas.microsoft.com/office/drawing/2014/main" id="{3DDA47BF-F48C-8F61-13A1-E870E5B3CEB9}"/>
                </a:ext>
              </a:extLst>
            </p:cNvPr>
            <p:cNvSpPr/>
            <p:nvPr/>
          </p:nvSpPr>
          <p:spPr>
            <a:xfrm>
              <a:off x="5784802" y="5520441"/>
              <a:ext cx="1710165" cy="601883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 w="9525">
              <a:solidFill>
                <a:schemeClr val="tx1"/>
              </a:solidFill>
            </a:ln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3">
              <a:schemeClr val="lt1"/>
            </a:lnRef>
            <a:fillRef idx="1">
              <a:schemeClr val="accent5"/>
            </a:fillRef>
            <a:effectRef idx="1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/>
                <a:t>Output Layer</a:t>
              </a:r>
            </a:p>
          </p:txBody>
        </p:sp>
        <p:cxnSp>
          <p:nvCxnSpPr>
            <p:cNvPr id="222" name="Straight Arrow Connector 221">
              <a:extLst>
                <a:ext uri="{FF2B5EF4-FFF2-40B4-BE49-F238E27FC236}">
                  <a16:creationId xmlns:a16="http://schemas.microsoft.com/office/drawing/2014/main" id="{E19BCF8B-70E1-C09A-EF2A-68800D6F530F}"/>
                </a:ext>
              </a:extLst>
            </p:cNvPr>
            <p:cNvCxnSpPr>
              <a:cxnSpLocks/>
              <a:endCxn id="221" idx="2"/>
            </p:cNvCxnSpPr>
            <p:nvPr/>
          </p:nvCxnSpPr>
          <p:spPr>
            <a:xfrm flipH="1" flipV="1">
              <a:off x="6639885" y="6122324"/>
              <a:ext cx="1847" cy="642589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3" name="Parallelogram 222">
                  <a:extLst>
                    <a:ext uri="{FF2B5EF4-FFF2-40B4-BE49-F238E27FC236}">
                      <a16:creationId xmlns:a16="http://schemas.microsoft.com/office/drawing/2014/main" id="{836AECE4-8965-7FBD-108B-F92DA20920EB}"/>
                    </a:ext>
                  </a:extLst>
                </p:cNvPr>
                <p:cNvSpPr/>
                <p:nvPr/>
              </p:nvSpPr>
              <p:spPr>
                <a:xfrm>
                  <a:off x="5784803" y="4537490"/>
                  <a:ext cx="1710164" cy="567159"/>
                </a:xfrm>
                <a:prstGeom prst="parallelogram">
                  <a:avLst/>
                </a:prstGeom>
                <a:ln w="9525">
                  <a:solidFill>
                    <a:schemeClr val="tx1"/>
                  </a:solidFill>
                </a:ln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</m:e>
                            </m:acc>
                          </m:e>
                          <m:sub>
                            <m:r>
                              <m:rPr>
                                <m:nor/>
                              </m:rPr>
                              <a:rPr lang="en-US" sz="2000" b="0" i="0" smtClean="0">
                                <a:latin typeface="Cambria Math" panose="02040503050406030204" pitchFamily="18" charset="0"/>
                              </a:rPr>
                              <m:t>p</m:t>
                            </m:r>
                          </m:sub>
                        </m:sSub>
                      </m:oMath>
                    </m:oMathPara>
                  </a14:m>
                  <a:endParaRPr lang="en-US" sz="2000" dirty="0">
                    <a:latin typeface="Modern No. 20" panose="02070704070505020303" pitchFamily="18" charset="77"/>
                  </a:endParaRPr>
                </a:p>
              </p:txBody>
            </p:sp>
          </mc:Choice>
          <mc:Fallback xmlns="">
            <p:sp>
              <p:nvSpPr>
                <p:cNvPr id="223" name="Parallelogram 222">
                  <a:extLst>
                    <a:ext uri="{FF2B5EF4-FFF2-40B4-BE49-F238E27FC236}">
                      <a16:creationId xmlns:a16="http://schemas.microsoft.com/office/drawing/2014/main" id="{836AECE4-8965-7FBD-108B-F92DA20920E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84803" y="4537490"/>
                  <a:ext cx="1710164" cy="567159"/>
                </a:xfrm>
                <a:prstGeom prst="parallelogram">
                  <a:avLst/>
                </a:prstGeom>
                <a:blipFill>
                  <a:blip r:embed="rId6"/>
                  <a:stretch>
                    <a:fillRect/>
                  </a:stretch>
                </a:blipFill>
                <a:ln w="9525">
                  <a:solidFill>
                    <a:schemeClr val="tx1"/>
                  </a:solidFill>
                </a:ln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48" name="Rectangle 247">
              <a:extLst>
                <a:ext uri="{FF2B5EF4-FFF2-40B4-BE49-F238E27FC236}">
                  <a16:creationId xmlns:a16="http://schemas.microsoft.com/office/drawing/2014/main" id="{37464623-E0E9-54B4-4AC6-198B54F24ADB}"/>
                </a:ext>
              </a:extLst>
            </p:cNvPr>
            <p:cNvSpPr/>
            <p:nvPr/>
          </p:nvSpPr>
          <p:spPr>
            <a:xfrm>
              <a:off x="5624616" y="8844410"/>
              <a:ext cx="147154" cy="17151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2" name="TextBox 241">
                  <a:extLst>
                    <a:ext uri="{FF2B5EF4-FFF2-40B4-BE49-F238E27FC236}">
                      <a16:creationId xmlns:a16="http://schemas.microsoft.com/office/drawing/2014/main" id="{2E77EA2F-12D7-4A88-FED9-9C2DBF966C4C}"/>
                    </a:ext>
                  </a:extLst>
                </p:cNvPr>
                <p:cNvSpPr txBox="1"/>
                <p:nvPr/>
              </p:nvSpPr>
              <p:spPr>
                <a:xfrm>
                  <a:off x="2381038" y="9274518"/>
                  <a:ext cx="1177318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𝜏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</m:sSub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2000" dirty="0">
                    <a:latin typeface="Modern No. 20" panose="02070704070505020303" pitchFamily="18" charset="77"/>
                  </a:endParaRPr>
                </a:p>
              </p:txBody>
            </p:sp>
          </mc:Choice>
          <mc:Fallback xmlns="">
            <p:sp>
              <p:nvSpPr>
                <p:cNvPr id="242" name="TextBox 241">
                  <a:extLst>
                    <a:ext uri="{FF2B5EF4-FFF2-40B4-BE49-F238E27FC236}">
                      <a16:creationId xmlns:a16="http://schemas.microsoft.com/office/drawing/2014/main" id="{2E77EA2F-12D7-4A88-FED9-9C2DBF966C4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381038" y="9274518"/>
                  <a:ext cx="1177318" cy="400110"/>
                </a:xfrm>
                <a:prstGeom prst="rect">
                  <a:avLst/>
                </a:prstGeom>
                <a:blipFill>
                  <a:blip r:embed="rId7"/>
                  <a:stretch>
                    <a:fillRect l="-2151" r="-13978" b="-1212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9" name="TextBox 248">
                  <a:extLst>
                    <a:ext uri="{FF2B5EF4-FFF2-40B4-BE49-F238E27FC236}">
                      <a16:creationId xmlns:a16="http://schemas.microsoft.com/office/drawing/2014/main" id="{15D4A164-FE3E-0279-BA63-177EC918451A}"/>
                    </a:ext>
                  </a:extLst>
                </p:cNvPr>
                <p:cNvSpPr txBox="1"/>
                <p:nvPr/>
              </p:nvSpPr>
              <p:spPr>
                <a:xfrm>
                  <a:off x="6085945" y="9263810"/>
                  <a:ext cx="1177318" cy="42377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𝜏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</m:sSub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2000" dirty="0">
                    <a:latin typeface="Modern No. 20" panose="02070704070505020303" pitchFamily="18" charset="77"/>
                  </a:endParaRPr>
                </a:p>
              </p:txBody>
            </p:sp>
          </mc:Choice>
          <mc:Fallback xmlns="">
            <p:sp>
              <p:nvSpPr>
                <p:cNvPr id="249" name="TextBox 248">
                  <a:extLst>
                    <a:ext uri="{FF2B5EF4-FFF2-40B4-BE49-F238E27FC236}">
                      <a16:creationId xmlns:a16="http://schemas.microsoft.com/office/drawing/2014/main" id="{15D4A164-FE3E-0279-BA63-177EC918451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85945" y="9263810"/>
                  <a:ext cx="1177318" cy="423770"/>
                </a:xfrm>
                <a:prstGeom prst="rect">
                  <a:avLst/>
                </a:prstGeom>
                <a:blipFill>
                  <a:blip r:embed="rId8"/>
                  <a:stretch>
                    <a:fillRect l="-1064" r="-14894" b="-571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3" name="TextBox 252">
                  <a:extLst>
                    <a:ext uri="{FF2B5EF4-FFF2-40B4-BE49-F238E27FC236}">
                      <a16:creationId xmlns:a16="http://schemas.microsoft.com/office/drawing/2014/main" id="{A3BAA647-131B-D463-59B1-87BB63835DB4}"/>
                    </a:ext>
                  </a:extLst>
                </p:cNvPr>
                <p:cNvSpPr txBox="1"/>
                <p:nvPr/>
              </p:nvSpPr>
              <p:spPr>
                <a:xfrm>
                  <a:off x="6095194" y="11159232"/>
                  <a:ext cx="1177318" cy="42377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𝜏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</m:sSub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2000" dirty="0">
                    <a:latin typeface="Modern No. 20" panose="02070704070505020303" pitchFamily="18" charset="77"/>
                  </a:endParaRPr>
                </a:p>
              </p:txBody>
            </p:sp>
          </mc:Choice>
          <mc:Fallback xmlns="">
            <p:sp>
              <p:nvSpPr>
                <p:cNvPr id="253" name="TextBox 252">
                  <a:extLst>
                    <a:ext uri="{FF2B5EF4-FFF2-40B4-BE49-F238E27FC236}">
                      <a16:creationId xmlns:a16="http://schemas.microsoft.com/office/drawing/2014/main" id="{A3BAA647-131B-D463-59B1-87BB63835DB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95194" y="11159232"/>
                  <a:ext cx="1177318" cy="423770"/>
                </a:xfrm>
                <a:prstGeom prst="rect">
                  <a:avLst/>
                </a:prstGeom>
                <a:blipFill>
                  <a:blip r:embed="rId9"/>
                  <a:stretch>
                    <a:fillRect l="-2128" r="-10638" b="-882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4" name="TextBox 253">
                  <a:extLst>
                    <a:ext uri="{FF2B5EF4-FFF2-40B4-BE49-F238E27FC236}">
                      <a16:creationId xmlns:a16="http://schemas.microsoft.com/office/drawing/2014/main" id="{B77B54EA-9CB8-6F4C-1797-6BC5410B0C68}"/>
                    </a:ext>
                  </a:extLst>
                </p:cNvPr>
                <p:cNvSpPr txBox="1"/>
                <p:nvPr/>
              </p:nvSpPr>
              <p:spPr>
                <a:xfrm>
                  <a:off x="6659367" y="5139019"/>
                  <a:ext cx="1177318" cy="42428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𝜏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</m:sSub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2000" dirty="0">
                    <a:latin typeface="Modern No. 20" panose="02070704070505020303" pitchFamily="18" charset="77"/>
                  </a:endParaRPr>
                </a:p>
              </p:txBody>
            </p:sp>
          </mc:Choice>
          <mc:Fallback xmlns="">
            <p:sp>
              <p:nvSpPr>
                <p:cNvPr id="254" name="TextBox 253">
                  <a:extLst>
                    <a:ext uri="{FF2B5EF4-FFF2-40B4-BE49-F238E27FC236}">
                      <a16:creationId xmlns:a16="http://schemas.microsoft.com/office/drawing/2014/main" id="{B77B54EA-9CB8-6F4C-1797-6BC5410B0C6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59367" y="5139019"/>
                  <a:ext cx="1177318" cy="424283"/>
                </a:xfrm>
                <a:prstGeom prst="rect">
                  <a:avLst/>
                </a:prstGeom>
                <a:blipFill>
                  <a:blip r:embed="rId10"/>
                  <a:stretch>
                    <a:fillRect l="-2151" r="-11828" b="-58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63" name="Straight Arrow Connector 262">
              <a:extLst>
                <a:ext uri="{FF2B5EF4-FFF2-40B4-BE49-F238E27FC236}">
                  <a16:creationId xmlns:a16="http://schemas.microsoft.com/office/drawing/2014/main" id="{7D8D4C43-50A1-A419-A3BC-F8985361FFF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638037" y="5106060"/>
              <a:ext cx="1852" cy="434694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4" name="TextBox 263">
                  <a:extLst>
                    <a:ext uri="{FF2B5EF4-FFF2-40B4-BE49-F238E27FC236}">
                      <a16:creationId xmlns:a16="http://schemas.microsoft.com/office/drawing/2014/main" id="{A0BD76A0-C91E-1E43-83A9-09D067DA092E}"/>
                    </a:ext>
                  </a:extLst>
                </p:cNvPr>
                <p:cNvSpPr txBox="1"/>
                <p:nvPr/>
              </p:nvSpPr>
              <p:spPr>
                <a:xfrm>
                  <a:off x="2409505" y="11159232"/>
                  <a:ext cx="1177318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𝜏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</m:sSub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2000" dirty="0">
                    <a:latin typeface="Modern No. 20" panose="02070704070505020303" pitchFamily="18" charset="77"/>
                  </a:endParaRPr>
                </a:p>
              </p:txBody>
            </p:sp>
          </mc:Choice>
          <mc:Fallback xmlns="">
            <p:sp>
              <p:nvSpPr>
                <p:cNvPr id="264" name="TextBox 263">
                  <a:extLst>
                    <a:ext uri="{FF2B5EF4-FFF2-40B4-BE49-F238E27FC236}">
                      <a16:creationId xmlns:a16="http://schemas.microsoft.com/office/drawing/2014/main" id="{A0BD76A0-C91E-1E43-83A9-09D067DA092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09505" y="11159232"/>
                  <a:ext cx="1177318" cy="400110"/>
                </a:xfrm>
                <a:prstGeom prst="rect">
                  <a:avLst/>
                </a:prstGeom>
                <a:blipFill>
                  <a:blip r:embed="rId11"/>
                  <a:stretch>
                    <a:fillRect l="-2128" r="-8511" b="-156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68" name="Straight Arrow Connector 267">
              <a:extLst>
                <a:ext uri="{FF2B5EF4-FFF2-40B4-BE49-F238E27FC236}">
                  <a16:creationId xmlns:a16="http://schemas.microsoft.com/office/drawing/2014/main" id="{FD178F84-C41B-FACA-D499-B67B0E4FF2B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09334" y="8685670"/>
              <a:ext cx="5552" cy="966274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73" name="Rectangle 272">
              <a:extLst>
                <a:ext uri="{FF2B5EF4-FFF2-40B4-BE49-F238E27FC236}">
                  <a16:creationId xmlns:a16="http://schemas.microsoft.com/office/drawing/2014/main" id="{488043A9-77E6-8413-C864-BAD8DE5FE4C0}"/>
                </a:ext>
              </a:extLst>
            </p:cNvPr>
            <p:cNvSpPr/>
            <p:nvPr/>
          </p:nvSpPr>
          <p:spPr>
            <a:xfrm>
              <a:off x="2473045" y="8895095"/>
              <a:ext cx="244610" cy="11422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4" name="Rectangle 273">
              <a:extLst>
                <a:ext uri="{FF2B5EF4-FFF2-40B4-BE49-F238E27FC236}">
                  <a16:creationId xmlns:a16="http://schemas.microsoft.com/office/drawing/2014/main" id="{C5E0366F-7BE4-680E-4AA6-C0168FB6A538}"/>
                </a:ext>
              </a:extLst>
            </p:cNvPr>
            <p:cNvSpPr/>
            <p:nvPr/>
          </p:nvSpPr>
          <p:spPr>
            <a:xfrm>
              <a:off x="2141425" y="8893320"/>
              <a:ext cx="244610" cy="11422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5" name="Rectangle 274">
              <a:extLst>
                <a:ext uri="{FF2B5EF4-FFF2-40B4-BE49-F238E27FC236}">
                  <a16:creationId xmlns:a16="http://schemas.microsoft.com/office/drawing/2014/main" id="{2D00FDFE-E6D3-200F-70D7-E1BEBA0B1955}"/>
                </a:ext>
              </a:extLst>
            </p:cNvPr>
            <p:cNvSpPr/>
            <p:nvPr/>
          </p:nvSpPr>
          <p:spPr>
            <a:xfrm>
              <a:off x="1823147" y="8890581"/>
              <a:ext cx="244610" cy="11422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41408533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95965d95-ecc0-4720-b759-1f33c42ed7da}" enabled="1" method="Standard" siteId="{a0f29d7e-28cd-4f54-8442-7885aee7c080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1841</TotalTime>
  <Words>358</Words>
  <Application>Microsoft Macintosh PowerPoint</Application>
  <PresentationFormat>Custom</PresentationFormat>
  <Paragraphs>124</Paragraphs>
  <Slides>6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2" baseType="lpstr">
      <vt:lpstr>Aptos</vt:lpstr>
      <vt:lpstr>Aptos Display</vt:lpstr>
      <vt:lpstr>Arial</vt:lpstr>
      <vt:lpstr>Cambria Math</vt:lpstr>
      <vt:lpstr>Modern No. 20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Henry, Aoife</dc:creator>
  <cp:lastModifiedBy>Henry, Aoife</cp:lastModifiedBy>
  <cp:revision>42</cp:revision>
  <dcterms:created xsi:type="dcterms:W3CDTF">2025-02-11T21:00:21Z</dcterms:created>
  <dcterms:modified xsi:type="dcterms:W3CDTF">2025-06-18T16:38:51Z</dcterms:modified>
</cp:coreProperties>
</file>